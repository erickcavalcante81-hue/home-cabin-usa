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858000" y="6035040"/>
            <a:ext cx="0" cy="640080"/>
          </a:xfrm>
          <a:prstGeom prst="line">
            <a:avLst/>
          </a:prstGeom>
          <a:ln w="5080">
            <a:solidFill>
              <a:srgbClr val="1C24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498079" y="6035040"/>
            <a:ext cx="0" cy="640080"/>
          </a:xfrm>
          <a:prstGeom prst="line">
            <a:avLst/>
          </a:prstGeom>
          <a:ln w="5080">
            <a:solidFill>
              <a:srgbClr val="1C24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138160" y="6035040"/>
            <a:ext cx="0" cy="640080"/>
          </a:xfrm>
          <a:prstGeom prst="line">
            <a:avLst/>
          </a:prstGeom>
          <a:ln w="5080">
            <a:solidFill>
              <a:srgbClr val="1C24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778240" y="6035040"/>
            <a:ext cx="0" cy="640080"/>
          </a:xfrm>
          <a:prstGeom prst="line">
            <a:avLst/>
          </a:prstGeom>
          <a:ln w="5080">
            <a:solidFill>
              <a:srgbClr val="1C24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418320" y="6035040"/>
            <a:ext cx="0" cy="640080"/>
          </a:xfrm>
          <a:prstGeom prst="line">
            <a:avLst/>
          </a:prstGeom>
          <a:ln w="5080">
            <a:solidFill>
              <a:srgbClr val="1C24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058400" y="6035040"/>
            <a:ext cx="0" cy="640080"/>
          </a:xfrm>
          <a:prstGeom prst="line">
            <a:avLst/>
          </a:prstGeom>
          <a:ln w="5080">
            <a:solidFill>
              <a:srgbClr val="1C24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22D3EE"/>
                </a:solidFill>
                <a:latin typeface="Calibri"/>
              </a:rPr>
              <a:t>PROPOSTA EXECUTIVA EXCLUSIVA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188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CBD5E1"/>
                </a:solidFill>
                <a:latin typeface="Calibri"/>
              </a:rPr>
              <a:t>Para Braga Veículos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9164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E5E7EB"/>
                </a:solidFill>
                <a:latin typeface="Calibri"/>
              </a:rPr>
              <a:t>Super Skill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632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22D3EE"/>
                </a:solidFill>
                <a:latin typeface="Calibri"/>
              </a:rPr>
              <a:t>Gêmeo digital dos seus 27 boxes — solução Conecta Market Hub.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0332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  <a:latin typeface="Calibri"/>
              </a:rPr>
              <a:t>Plataforma proprietária da Conecta Market Hub: motor de visão computacional
industrial + camada exclusiva de inteligência (Boqueta, Down Time, HF real).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75904" y="2336292"/>
            <a:ext cx="2633472" cy="288036"/>
          </a:xfrm>
          <a:prstGeom prst="roundRect">
            <a:avLst>
              <a:gd name="adj" fmla="val 35000"/>
            </a:avLst>
          </a:prstGeom>
          <a:solidFill>
            <a:srgbClr val="07090D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51976" y="2007108"/>
            <a:ext cx="1481328" cy="411480"/>
          </a:xfrm>
          <a:prstGeom prst="roundRect">
            <a:avLst>
              <a:gd name="adj" fmla="val 45000"/>
            </a:avLst>
          </a:prstGeom>
          <a:solidFill>
            <a:srgbClr val="07090D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211312.0" y="2665476.0"/>
            <a:ext cx="2962656.0" cy="0.0"/>
          </a:xfrm>
          <a:prstGeom prst="line">
            <a:avLst/>
          </a:prstGeom>
          <a:ln w="6350">
            <a:solidFill>
              <a:srgbClr val="22D3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581644" y="2500884"/>
            <a:ext cx="263347" cy="263347"/>
          </a:xfrm>
          <a:prstGeom prst="ellipse">
            <a:avLst/>
          </a:prstGeom>
          <a:solidFill>
            <a:srgbClr val="07090D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40289" y="2500884"/>
            <a:ext cx="263347" cy="263347"/>
          </a:xfrm>
          <a:prstGeom prst="ellipse">
            <a:avLst/>
          </a:prstGeom>
          <a:solidFill>
            <a:srgbClr val="07090D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41180" y="1440180"/>
            <a:ext cx="502920" cy="502920"/>
          </a:xfrm>
          <a:prstGeom prst="rect">
            <a:avLst/>
          </a:prstGeom>
          <a:solidFill>
            <a:srgbClr val="141A23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66326" y="1465326"/>
            <a:ext cx="75438" cy="7543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43516" y="1465326"/>
            <a:ext cx="75438" cy="7543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66326" y="1842516"/>
            <a:ext cx="75438" cy="7543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9692640" y="1938528"/>
            <a:ext cx="0" cy="164592"/>
          </a:xfrm>
          <a:prstGeom prst="line">
            <a:avLst/>
          </a:prstGeom>
          <a:ln w="9525">
            <a:solidFill>
              <a:srgbClr val="22D3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595360" y="29260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300">
                <a:solidFill>
                  <a:srgbClr val="6B7280"/>
                </a:solidFill>
                <a:latin typeface="Calibri"/>
              </a:rPr>
              <a:t>QR A4 NO TETO → CÂMERA ZENITAL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3492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4406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22D3EE"/>
                </a:solidFill>
                <a:latin typeface="Calibri"/>
              </a:rPr>
              <a:t>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300">
                <a:solidFill>
                  <a:srgbClr val="9CA3AF"/>
                </a:solidFill>
                <a:latin typeface="Calibri"/>
              </a:rPr>
              <a:t>BOXES MONITORADOS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26080" y="53492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0" y="54406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A78BFA"/>
                </a:solidFill>
                <a:latin typeface="Calibri"/>
              </a:rPr>
              <a:t>~35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58978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300">
                <a:solidFill>
                  <a:srgbClr val="9CA3AF"/>
                </a:solidFill>
                <a:latin typeface="Calibri"/>
              </a:rPr>
              <a:t>CÂMERAS · 2 UNIDADES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12080" y="53492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0" y="54406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34D399"/>
                </a:solidFill>
                <a:latin typeface="Calibri"/>
              </a:rPr>
              <a:t>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58978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300">
                <a:solidFill>
                  <a:srgbClr val="9CA3AF"/>
                </a:solidFill>
                <a:latin typeface="Calibri"/>
              </a:rPr>
              <a:t>PRODUTIVOS RASTREADOS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98079" y="53492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79" y="54406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FBBF24"/>
                </a:solidFill>
                <a:latin typeface="Calibri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58978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300">
                <a:solidFill>
                  <a:srgbClr val="9CA3AF"/>
                </a:solidFill>
                <a:latin typeface="Calibri"/>
              </a:rPr>
              <a:t>BOQUETA INSTRUMENTADA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84080" y="53492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84080" y="54406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E5E7EB"/>
                </a:solidFill>
                <a:latin typeface="Calibri"/>
              </a:rPr>
              <a:t>CMH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58978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300">
                <a:solidFill>
                  <a:srgbClr val="9CA3AF"/>
                </a:solidFill>
                <a:latin typeface="Calibri"/>
              </a:rPr>
              <a:t>CONECTA MARKET HUB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6B7280"/>
                </a:solidFill>
                <a:latin typeface="Calibri"/>
              </a:rPr>
              <a:t>SUPER SKILL IA · BY CONECTA MARKET HUB · PROPOSTA BRAGA VEÍCULOS · CONFIDENCIAL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22D3EE"/>
                </a:solidFill>
                <a:latin typeface="Calibri"/>
              </a:rPr>
              <a:t>DIAGNÓSTICO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Sua operação hoje — o que o relatório nos mostrou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611880" cy="12801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3611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22D3EE"/>
                </a:solidFill>
                <a:latin typeface="Calibri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9CA3AF"/>
                </a:solidFill>
                <a:latin typeface="Calibri"/>
              </a:rPr>
              <a:t>BOXES OPERACIONAIS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17320"/>
            <a:ext cx="3611880" cy="12801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508760"/>
            <a:ext cx="3611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22D3EE"/>
                </a:solidFill>
                <a:latin typeface="Calibri"/>
              </a:rPr>
              <a:t>12 + 2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14884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9CA3AF"/>
                </a:solidFill>
                <a:latin typeface="Calibri"/>
              </a:rPr>
              <a:t>MECÂNICOS + AUXILIARES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611880" cy="12801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508760"/>
            <a:ext cx="3611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22D3EE"/>
                </a:solidFill>
                <a:latin typeface="Calibri"/>
              </a:rPr>
              <a:t>2 + 2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14884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9CA3AF"/>
                </a:solidFill>
                <a:latin typeface="Calibri"/>
              </a:rPr>
              <a:t>ALINHAMENTO + BALANCEAMENTO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22D3EE"/>
                </a:solidFill>
                <a:latin typeface="Calibri"/>
              </a:rPr>
              <a:t>DISTRIBUIÇÃO POR UNIDADE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91840"/>
            <a:ext cx="11064240" cy="45720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918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spc="300">
                <a:solidFill>
                  <a:srgbClr val="9CA3AF"/>
                </a:solidFill>
                <a:latin typeface="Calibri"/>
              </a:rPr>
              <a:t>UNIDADE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29184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 spc="300">
                <a:solidFill>
                  <a:srgbClr val="9CA3AF"/>
                </a:solidFill>
                <a:latin typeface="Calibri"/>
              </a:rPr>
              <a:t>BOX C/ ELEVADOR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29184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 spc="300">
                <a:solidFill>
                  <a:srgbClr val="9CA3AF"/>
                </a:solidFill>
                <a:latin typeface="Calibri"/>
              </a:rPr>
              <a:t>BOX S/ ELEVADOR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329184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 spc="300">
                <a:solidFill>
                  <a:srgbClr val="9CA3AF"/>
                </a:solidFill>
                <a:latin typeface="Calibri"/>
              </a:rPr>
              <a:t>TOTAL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29184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 spc="300">
                <a:solidFill>
                  <a:srgbClr val="9CA3AF"/>
                </a:solidFill>
                <a:latin typeface="Calibri"/>
              </a:rPr>
              <a:t>MECÂNICOS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329184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 spc="300">
                <a:solidFill>
                  <a:srgbClr val="9CA3AF"/>
                </a:solidFill>
                <a:latin typeface="Calibri"/>
              </a:rPr>
              <a:t>AUXILIARES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490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74904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Calibri"/>
              </a:rPr>
              <a:t>Ramos Ferreira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3749040"/>
            <a:ext cx="1463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5E7EB"/>
                </a:solidFill>
                <a:latin typeface="Calibri"/>
              </a:rPr>
              <a:t>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3749040"/>
            <a:ext cx="1463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5E7EB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3749040"/>
            <a:ext cx="1097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2D3EE"/>
                </a:solidFill>
                <a:latin typeface="Calibri"/>
              </a:rPr>
              <a:t>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3749040"/>
            <a:ext cx="1097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5E7EB"/>
                </a:solidFill>
                <a:latin typeface="Calibri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3749040"/>
            <a:ext cx="10058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5E7EB"/>
                </a:solidFill>
                <a:latin typeface="Calibri"/>
              </a:rPr>
              <a:t>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34340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34340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Calibri"/>
              </a:rPr>
              <a:t>Djalma Batista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4343400"/>
            <a:ext cx="1463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5E7EB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4343400"/>
            <a:ext cx="1463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5E7EB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0" y="4343400"/>
            <a:ext cx="1097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2D3EE"/>
                </a:solidFill>
                <a:latin typeface="Calibri"/>
              </a:rP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4343400"/>
            <a:ext cx="1097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5E7EB"/>
                </a:solidFill>
                <a:latin typeface="Calibri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4343400"/>
            <a:ext cx="10058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5E7EB"/>
                </a:solidFill>
                <a:latin typeface="Calibri"/>
              </a:rPr>
              <a:t>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93776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93776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Calibri"/>
              </a:rPr>
              <a:t>TOTAL CONSOLIDADO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4937760"/>
            <a:ext cx="1463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Calibri"/>
              </a:rPr>
              <a:t>19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4937760"/>
            <a:ext cx="14630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Calibri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0" y="4937760"/>
            <a:ext cx="1097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Calibri"/>
              </a:rPr>
              <a:t>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4937760"/>
            <a:ext cx="1097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Calibri"/>
              </a:rPr>
              <a:t>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0" y="4937760"/>
            <a:ext cx="10058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Calibr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Fonte: Relatório Consolidado de Infraestrutura Braga Veículos.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6B7280"/>
                </a:solidFill>
                <a:latin typeface="Calibri"/>
              </a:rPr>
              <a:t>SUPER SKILL IA · BY CONECTA MARKET HUB · PROPOSTA BRAGA VEÍCULOS · CONFIDENCIAL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F87171"/>
                </a:solidFill>
                <a:latin typeface="Calibri"/>
              </a:rPr>
              <a:t>ONDE ESTÁ DOENDO DE VERDADE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4 gargalos invisíveis na sua operação hoje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87171"/>
                </a:solidFill>
                <a:latin typeface="Calibri"/>
              </a:rPr>
              <a:t>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20" y="1783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87171"/>
                </a:solidFill>
                <a:latin typeface="Calibri"/>
              </a:rPr>
              <a:t>DOWN TIME INVISÍVEL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20" y="2194560"/>
            <a:ext cx="3840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Você mede quanto tempo o veículo fica parado.
Não mede POR QUÊ.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154680"/>
            <a:ext cx="4937760" cy="36576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54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87171"/>
                </a:solidFill>
                <a:latin typeface="Calibri"/>
              </a:rPr>
              <a:t>▸ Cada hora ociosa = HF não faturada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46520" y="182880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82880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BBF24"/>
                </a:solidFill>
                <a:latin typeface="Calibri"/>
              </a:rPr>
              <a:t>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1783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  <a:latin typeface="Calibri"/>
              </a:rPr>
              <a:t>BOQUETA DE PEÇAS SEM MÉTRICA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2194560"/>
            <a:ext cx="3840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O elo mais crítico — e o único sem dado objetivo.
Quanto o mecânico espera ali?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3154680"/>
            <a:ext cx="4937760" cy="36576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154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Calibri"/>
              </a:rPr>
              <a:t>▸ Área declarada estratégica no relatório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79476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406908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06908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A78BFA"/>
                </a:solidFill>
                <a:latin typeface="Calibri"/>
              </a:rPr>
              <a:t>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20" y="402336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Calibri"/>
              </a:rPr>
              <a:t>DESBALANÇO ENTRE UNIDADES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20" y="4434840"/>
            <a:ext cx="3840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Ramos: 18 boxes, 10 mecânicos.
Djalma: 9 boxes, 4 produtivos. Produtividade real?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394960"/>
            <a:ext cx="4937760" cy="36576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394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A78BFA"/>
                </a:solidFill>
                <a:latin typeface="Calibri"/>
              </a:rPr>
              <a:t>▸ Sem comparativo objetivo entre as duas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79476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46520" y="406908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06908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22D3EE"/>
                </a:solidFill>
                <a:latin typeface="Calibri"/>
              </a:rPr>
              <a:t>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402336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MÁQUINAS GARGALO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4434840"/>
            <a:ext cx="3840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Só 2 alinhamentos e 2 balanceamentos.
Quantos veículos esperam, quantos minutos por dia?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46520" y="5394960"/>
            <a:ext cx="4937760" cy="36576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5394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2D3EE"/>
                </a:solidFill>
                <a:latin typeface="Calibri"/>
              </a:rPr>
              <a:t>▸ Recurso escasso, sem fila instrumentada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6B7280"/>
                </a:solidFill>
                <a:latin typeface="Calibri"/>
              </a:rPr>
              <a:t>SUPER SKILL IA · BY CONECTA MARKET HUB · PROPOSTA BRAGA VEÍCULOS · CONFIDENCIAL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22D3EE"/>
                </a:solidFill>
                <a:latin typeface="Calibri"/>
              </a:rPr>
              <a:t>A PROPOSTA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Nossa solução proprietária: visão computacional + inteligência de negócio.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BD5E1"/>
                </a:solidFill>
                <a:latin typeface="Calibri"/>
              </a:rPr>
              <a:t>Uma plataforma, duas camadas modulares.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Calibri"/>
              </a:rPr>
              <a:t>O motor de visão computacional roda no edge da unidade. A camada de inteligência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Calibri"/>
              </a:rPr>
              <a:t>é modelada item a item para os 27 boxes, a Boqueta de Peças e os KPIs Braga.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5486400" cy="329184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803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5E7EB"/>
                </a:solidFill>
                <a:latin typeface="Calibri"/>
              </a:rPr>
              <a:t>MOTOR DE VISÃO COMPUTACIONAL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004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9CA3AF"/>
                </a:solidFill>
                <a:latin typeface="Calibri"/>
              </a:rPr>
              <a:t>CAMADA INDUSTRIAL · CAPTURA + INFERÊNCIA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1188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5E7EB"/>
                </a:solidFill>
                <a:latin typeface="Calibri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6118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Conecta nas câmeras IP/RTSP existentes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59352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5E7EB"/>
                </a:solidFill>
                <a:latin typeface="Calibri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959352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Detecta pessoas, veículos, EPI e contagens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06824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5E7EB"/>
                </a:solidFill>
                <a:latin typeface="Calibri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306824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Roda on-premise (edge local)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654296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5E7EB"/>
                </a:solidFill>
                <a:latin typeface="Calibri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54296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Publica eventos via protocolo industrial padrão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0176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5E7EB"/>
                </a:solidFill>
                <a:latin typeface="Calibri"/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01768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Aproveita infraestrutura já instalada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440680"/>
            <a:ext cx="4937760" cy="41148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4406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5E7EB"/>
                </a:solidFill>
                <a:latin typeface="Calibri"/>
              </a:rPr>
              <a:t>INDUSTRIAL · ON-PREMISE · COMPROVADO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743200"/>
            <a:ext cx="5349240" cy="329184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288036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  <a:latin typeface="Calibri"/>
              </a:rPr>
              <a:t>SUPER SKILL 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200400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9CA3AF"/>
                </a:solidFill>
                <a:latin typeface="Calibri"/>
              </a:rPr>
              <a:t>CAMADA EXCLUSIVA BRAGA · INTELIGÊNCIA DE NEGÓCIO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61188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6118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Tradução semântica para o domínio Braga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959352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959352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Módulo dedicado: Boqueta de Peças (Down Time)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306824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306824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KPIs Braga: HF real × apurada, ocupação por box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654296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654296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Comparativo cruzado Ramos × Djalma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500176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5001768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Torre de Controle ao vivo (Next.js + WebSocket)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37960" y="5440680"/>
            <a:ext cx="4800600" cy="41148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5440680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2D3EE"/>
                </a:solidFill>
                <a:latin typeface="Calibri"/>
              </a:rPr>
              <a:t>SOB MEDIDA. SUA OPERAÇÃO. SEU PRODUTO.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035040" y="4389120"/>
            <a:ext cx="228600" cy="0"/>
          </a:xfrm>
          <a:prstGeom prst="bentConnector3">
            <a:avLst/>
          </a:prstGeom>
          <a:ln w="31750">
            <a:solidFill>
              <a:srgbClr val="22D3E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760720" y="40690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300">
                <a:solidFill>
                  <a:srgbClr val="22D3EE"/>
                </a:solidFill>
                <a:latin typeface="Calibri"/>
              </a:rPr>
              <a:t>EVENTOS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6B7280"/>
                </a:solidFill>
                <a:latin typeface="Calibri"/>
              </a:rPr>
              <a:t>SUPER SKILL IA · BY CONECTA MARKET HUB · PROPOSTA BRAGA VEÍCULOS · CONFIDENCIAL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A78BFA"/>
                </a:solidFill>
                <a:latin typeface="Calibri"/>
              </a:rPr>
              <a:t>ARQUITETURA MODULAR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As duas camadas da solução Conecta Market Hub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247120" cy="50292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3749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300">
                <a:solidFill>
                  <a:srgbClr val="9CA3AF"/>
                </a:solidFill>
                <a:latin typeface="Calibri"/>
              </a:rPr>
              <a:t>TAREFA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80" y="155448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300">
                <a:solidFill>
                  <a:srgbClr val="E5E7EB"/>
                </a:solidFill>
                <a:latin typeface="Calibri"/>
              </a:rPr>
              <a:t>MOTOR DE VISÃO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155448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300">
                <a:solidFill>
                  <a:srgbClr val="22D3EE"/>
                </a:solidFill>
                <a:latin typeface="Calibri"/>
              </a:rPr>
              <a:t>INTELIGÊNCIA DE NEGÓCIO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57400"/>
            <a:ext cx="11247120" cy="384048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57400"/>
            <a:ext cx="3749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Conexão com câmeras IP/RTSP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05740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CBD5E1"/>
                </a:solidFill>
                <a:latin typeface="Calibri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057400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441448"/>
            <a:ext cx="11247120" cy="384048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441448"/>
            <a:ext cx="3749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Detecção de pessoas / veículos / EPI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2441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CBD5E1"/>
                </a:solidFill>
                <a:latin typeface="Calibri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441448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825496"/>
            <a:ext cx="11247120" cy="384048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825496"/>
            <a:ext cx="3749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Inferência on-premise / 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2825496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CBD5E1"/>
                </a:solidFill>
                <a:latin typeface="Calibri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825496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209544"/>
            <a:ext cx="11247120" cy="384048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209544"/>
            <a:ext cx="3749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Tradução semântica (mecânico, OS, box)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3209544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209544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2D3EE"/>
                </a:solidFill>
                <a:latin typeface="Calibri"/>
              </a:rPr>
              <a:t>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593592"/>
            <a:ext cx="11247120" cy="384048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593592"/>
            <a:ext cx="3749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Lógica da Boqueta de Peças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3593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593592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2D3EE"/>
                </a:solidFill>
                <a:latin typeface="Calibri"/>
              </a:rPr>
              <a:t>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977640"/>
            <a:ext cx="11247120" cy="384048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977640"/>
            <a:ext cx="3749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Cálculo de Down Time real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397764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3977640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2D3EE"/>
                </a:solidFill>
                <a:latin typeface="Calibri"/>
              </a:rPr>
              <a:t>●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361688"/>
            <a:ext cx="11247120" cy="384048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4361688"/>
            <a:ext cx="3749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KPIs Braga (HF real, ocupação)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3480" y="436168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4361688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2D3EE"/>
                </a:solidFill>
                <a:latin typeface="Calibri"/>
              </a:rPr>
              <a:t>●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745736"/>
            <a:ext cx="11247120" cy="384048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4745736"/>
            <a:ext cx="3749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Comparativo Ramos × Djalma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83480" y="4745736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4745736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2D3EE"/>
                </a:solidFill>
                <a:latin typeface="Calibri"/>
              </a:rPr>
              <a:t>●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129784"/>
            <a:ext cx="11247120" cy="384048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129784"/>
            <a:ext cx="3749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Dashboard Torre de Controle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83480" y="5129784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5129784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2D3EE"/>
                </a:solidFill>
                <a:latin typeface="Calibri"/>
              </a:rPr>
              <a:t>●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5513832"/>
            <a:ext cx="11247120" cy="384048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5513832"/>
            <a:ext cx="3749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Histórico operacional (PostgreSQL)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83480" y="551383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5513832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2D3EE"/>
                </a:solidFill>
                <a:latin typeface="Calibri"/>
              </a:rPr>
              <a:t>●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585216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85216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34D399"/>
                </a:solidFill>
                <a:latin typeface="Calibri"/>
              </a:rPr>
              <a:t>RESULTADO: arquitetura modular · time-to-value reduzido · foco 100% no que diferencia a Braga.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6B7280"/>
                </a:solidFill>
                <a:latin typeface="Calibri"/>
              </a:rPr>
              <a:t>SUPER SKILL IA · BY CONECTA MARKET HUB · PROPOSTA BRAGA VEÍCULOS · CONFIDENCIAL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22D3EE"/>
                </a:solidFill>
                <a:latin typeface="Calibri"/>
              </a:rPr>
              <a:t>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Como cada camada da solução se conecta — fluxo end-to-end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22D3EE"/>
                </a:solidFill>
                <a:latin typeface="Calibri"/>
              </a:rPr>
              <a:t>RAMOS FERREIRA · ~22 CÂMERAS RTSP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1418" y="1732788"/>
            <a:ext cx="352044" cy="192024"/>
          </a:xfrm>
          <a:prstGeom prst="roundRect">
            <a:avLst>
              <a:gd name="adj" fmla="val 20000"/>
            </a:avLst>
          </a:prstGeom>
          <a:solidFill>
            <a:srgbClr val="141A23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9844" y="1764792"/>
            <a:ext cx="128015" cy="128015"/>
          </a:xfrm>
          <a:prstGeom prst="ellipse">
            <a:avLst/>
          </a:prstGeom>
          <a:solidFill>
            <a:srgbClr val="07090D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90218" y="1732788"/>
            <a:ext cx="352044" cy="192024"/>
          </a:xfrm>
          <a:prstGeom prst="roundRect">
            <a:avLst>
              <a:gd name="adj" fmla="val 20000"/>
            </a:avLst>
          </a:prstGeom>
          <a:solidFill>
            <a:srgbClr val="141A23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88644" y="1764792"/>
            <a:ext cx="128015" cy="128015"/>
          </a:xfrm>
          <a:prstGeom prst="ellipse">
            <a:avLst/>
          </a:prstGeom>
          <a:solidFill>
            <a:srgbClr val="07090D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49018" y="1732788"/>
            <a:ext cx="352044" cy="192024"/>
          </a:xfrm>
          <a:prstGeom prst="roundRect">
            <a:avLst>
              <a:gd name="adj" fmla="val 20000"/>
            </a:avLst>
          </a:prstGeom>
          <a:solidFill>
            <a:srgbClr val="141A23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247444" y="1764792"/>
            <a:ext cx="128015" cy="128015"/>
          </a:xfrm>
          <a:prstGeom prst="ellipse">
            <a:avLst/>
          </a:prstGeom>
          <a:solidFill>
            <a:srgbClr val="07090D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07818" y="1732788"/>
            <a:ext cx="352044" cy="192024"/>
          </a:xfrm>
          <a:prstGeom prst="roundRect">
            <a:avLst>
              <a:gd name="adj" fmla="val 20000"/>
            </a:avLst>
          </a:prstGeom>
          <a:solidFill>
            <a:srgbClr val="141A23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06244" y="1764792"/>
            <a:ext cx="128015" cy="128015"/>
          </a:xfrm>
          <a:prstGeom prst="ellipse">
            <a:avLst/>
          </a:prstGeom>
          <a:solidFill>
            <a:srgbClr val="07090D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166618" y="1732788"/>
            <a:ext cx="352044" cy="192024"/>
          </a:xfrm>
          <a:prstGeom prst="roundRect">
            <a:avLst>
              <a:gd name="adj" fmla="val 20000"/>
            </a:avLst>
          </a:prstGeom>
          <a:solidFill>
            <a:srgbClr val="141A23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65044" y="1764792"/>
            <a:ext cx="128015" cy="128015"/>
          </a:xfrm>
          <a:prstGeom prst="ellipse">
            <a:avLst/>
          </a:prstGeom>
          <a:solidFill>
            <a:srgbClr val="07090D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725418" y="1732788"/>
            <a:ext cx="352044" cy="192024"/>
          </a:xfrm>
          <a:prstGeom prst="roundRect">
            <a:avLst>
              <a:gd name="adj" fmla="val 20000"/>
            </a:avLst>
          </a:prstGeom>
          <a:solidFill>
            <a:srgbClr val="141A23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23844" y="1764792"/>
            <a:ext cx="128015" cy="128015"/>
          </a:xfrm>
          <a:prstGeom prst="ellipse">
            <a:avLst/>
          </a:prstGeom>
          <a:solidFill>
            <a:srgbClr val="07090D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84218" y="1732788"/>
            <a:ext cx="352044" cy="192024"/>
          </a:xfrm>
          <a:prstGeom prst="roundRect">
            <a:avLst>
              <a:gd name="adj" fmla="val 20000"/>
            </a:avLst>
          </a:prstGeom>
          <a:solidFill>
            <a:srgbClr val="141A23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82644" y="1764792"/>
            <a:ext cx="128015" cy="128015"/>
          </a:xfrm>
          <a:prstGeom prst="ellipse">
            <a:avLst/>
          </a:prstGeom>
          <a:solidFill>
            <a:srgbClr val="07090D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843018" y="1732788"/>
            <a:ext cx="352044" cy="192024"/>
          </a:xfrm>
          <a:prstGeom prst="roundRect">
            <a:avLst>
              <a:gd name="adj" fmla="val 20000"/>
            </a:avLst>
          </a:prstGeom>
          <a:solidFill>
            <a:srgbClr val="141A23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041444" y="1764792"/>
            <a:ext cx="128015" cy="128015"/>
          </a:xfrm>
          <a:prstGeom prst="ellipse">
            <a:avLst/>
          </a:prstGeom>
          <a:solidFill>
            <a:srgbClr val="07090D"/>
          </a:solidFill>
          <a:ln w="152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141732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A78BFA"/>
                </a:solidFill>
                <a:latin typeface="Calibri"/>
              </a:rPr>
              <a:t>DJALMA BATISTA · ~13 CÂMERAS RTSP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26115" y="1732788"/>
            <a:ext cx="352044" cy="192024"/>
          </a:xfrm>
          <a:prstGeom prst="roundRect">
            <a:avLst>
              <a:gd name="adj" fmla="val 20000"/>
            </a:avLst>
          </a:prstGeom>
          <a:solidFill>
            <a:srgbClr val="141A23"/>
          </a:solidFill>
          <a:ln w="1524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24541" y="1764792"/>
            <a:ext cx="128015" cy="128015"/>
          </a:xfrm>
          <a:prstGeom prst="ellipse">
            <a:avLst/>
          </a:prstGeom>
          <a:solidFill>
            <a:srgbClr val="07090D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844572" y="1732788"/>
            <a:ext cx="352044" cy="192024"/>
          </a:xfrm>
          <a:prstGeom prst="roundRect">
            <a:avLst>
              <a:gd name="adj" fmla="val 20000"/>
            </a:avLst>
          </a:prstGeom>
          <a:solidFill>
            <a:srgbClr val="141A23"/>
          </a:solidFill>
          <a:ln w="1524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42998" y="1764792"/>
            <a:ext cx="128015" cy="128015"/>
          </a:xfrm>
          <a:prstGeom prst="ellipse">
            <a:avLst/>
          </a:prstGeom>
          <a:solidFill>
            <a:srgbClr val="07090D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563029" y="1732788"/>
            <a:ext cx="352044" cy="192024"/>
          </a:xfrm>
          <a:prstGeom prst="roundRect">
            <a:avLst>
              <a:gd name="adj" fmla="val 20000"/>
            </a:avLst>
          </a:prstGeom>
          <a:solidFill>
            <a:srgbClr val="141A23"/>
          </a:solidFill>
          <a:ln w="1524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761455" y="1764792"/>
            <a:ext cx="128015" cy="128015"/>
          </a:xfrm>
          <a:prstGeom prst="ellipse">
            <a:avLst/>
          </a:prstGeom>
          <a:solidFill>
            <a:srgbClr val="07090D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281486" y="1732788"/>
            <a:ext cx="352044" cy="192024"/>
          </a:xfrm>
          <a:prstGeom prst="roundRect">
            <a:avLst>
              <a:gd name="adj" fmla="val 20000"/>
            </a:avLst>
          </a:prstGeom>
          <a:solidFill>
            <a:srgbClr val="141A23"/>
          </a:solidFill>
          <a:ln w="1524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79912" y="1764792"/>
            <a:ext cx="128015" cy="128015"/>
          </a:xfrm>
          <a:prstGeom prst="ellipse">
            <a:avLst/>
          </a:prstGeom>
          <a:solidFill>
            <a:srgbClr val="07090D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999943" y="1732788"/>
            <a:ext cx="352044" cy="192024"/>
          </a:xfrm>
          <a:prstGeom prst="roundRect">
            <a:avLst>
              <a:gd name="adj" fmla="val 20000"/>
            </a:avLst>
          </a:prstGeom>
          <a:solidFill>
            <a:srgbClr val="141A23"/>
          </a:solidFill>
          <a:ln w="1524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98369" y="1764792"/>
            <a:ext cx="128015" cy="128015"/>
          </a:xfrm>
          <a:prstGeom prst="ellipse">
            <a:avLst/>
          </a:prstGeom>
          <a:solidFill>
            <a:srgbClr val="07090D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718400" y="1732788"/>
            <a:ext cx="352044" cy="192024"/>
          </a:xfrm>
          <a:prstGeom prst="roundRect">
            <a:avLst>
              <a:gd name="adj" fmla="val 20000"/>
            </a:avLst>
          </a:prstGeom>
          <a:solidFill>
            <a:srgbClr val="141A23"/>
          </a:solidFill>
          <a:ln w="1524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16826" y="1764792"/>
            <a:ext cx="128015" cy="128015"/>
          </a:xfrm>
          <a:prstGeom prst="ellipse">
            <a:avLst/>
          </a:prstGeom>
          <a:solidFill>
            <a:srgbClr val="07090D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48640" y="26060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269748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E5E7EB"/>
                </a:solidFill>
                <a:latin typeface="Calibri"/>
              </a:rPr>
              <a:t>MOTOR DE VISÃO COMPUTACIONAL · INFERÊNCIA ON-PREMISE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30175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Pessoas · Veículos · EPI · Contagens · Padrões operacionais  →  publica eventos para a camada de negócio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017520" y="2194560"/>
            <a:ext cx="0" cy="411480"/>
          </a:xfrm>
          <a:prstGeom prst="bentConnector3">
            <a:avLst/>
          </a:prstGeom>
          <a:ln w="19050">
            <a:solidFill>
              <a:srgbClr val="22D3E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052560" y="2194560"/>
            <a:ext cx="0" cy="411480"/>
          </a:xfrm>
          <a:prstGeom prst="bentConnector3">
            <a:avLst/>
          </a:prstGeom>
          <a:ln w="19050">
            <a:solidFill>
              <a:srgbClr val="A78BF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4114800" y="3703320"/>
            <a:ext cx="3840480" cy="50292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0" y="370332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300">
                <a:solidFill>
                  <a:srgbClr val="FBBF24"/>
                </a:solidFill>
                <a:latin typeface="Calibri"/>
              </a:rPr>
              <a:t>BARRAMENTO DE EVENTOS · vision/braga/+/operacionais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035040" y="3520440"/>
            <a:ext cx="0" cy="182880"/>
          </a:xfrm>
          <a:prstGeom prst="bentConnector3">
            <a:avLst/>
          </a:prstGeom>
          <a:ln w="19050">
            <a:solidFill>
              <a:srgbClr val="FBBF2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548640" y="4389120"/>
            <a:ext cx="11064240" cy="141732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448056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22D3EE"/>
                </a:solidFill>
                <a:latin typeface="Calibri"/>
              </a:rPr>
              <a:t>CAMADA DE INTELIGÊNCIA · CONECTA MARKET HUB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40" y="4846320"/>
            <a:ext cx="2542032" cy="86868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4956048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BBF24"/>
                </a:solidFill>
                <a:latin typeface="Calibri"/>
              </a:rPr>
              <a:t>Bridge Semântica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257800"/>
            <a:ext cx="25420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alibri"/>
              </a:rPr>
              <a:t>Eventos → domínio Braga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10712" y="4846320"/>
            <a:ext cx="2542032" cy="86868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10712" y="4956048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D399"/>
                </a:solidFill>
                <a:latin typeface="Calibri"/>
              </a:rPr>
              <a:t>Worker Redis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10712" y="5257800"/>
            <a:ext cx="25420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alibri"/>
              </a:rPr>
              <a:t>Persiste + dispara dashboard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044184" y="4846320"/>
            <a:ext cx="2542032" cy="86868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44184" y="4956048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  <a:latin typeface="Calibri"/>
              </a:rPr>
              <a:t>PostgreSQL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44184" y="5257800"/>
            <a:ext cx="25420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alibri"/>
              </a:rPr>
              <a:t>Histórico + OS + box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77656" y="4846320"/>
            <a:ext cx="2542032" cy="86868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77656" y="4956048"/>
            <a:ext cx="2542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2D3EE"/>
                </a:solidFill>
                <a:latin typeface="Calibri"/>
              </a:rPr>
              <a:t>WebSocket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77656" y="5257800"/>
            <a:ext cx="25420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alibri"/>
              </a:rPr>
              <a:t>Push ao vivo no dashboard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035040" y="4206240"/>
            <a:ext cx="0" cy="182880"/>
          </a:xfrm>
          <a:prstGeom prst="bentConnector3">
            <a:avLst/>
          </a:prstGeom>
          <a:ln w="19050">
            <a:solidFill>
              <a:srgbClr val="FBBF2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3657600" y="5943600"/>
            <a:ext cx="4846320" cy="41148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0" y="594360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300">
                <a:solidFill>
                  <a:srgbClr val="34D399"/>
                </a:solidFill>
                <a:latin typeface="Calibri"/>
              </a:rPr>
              <a:t>TORRE DE CONTROLE · Next.js · Multi-dispositivo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080760" y="5806440"/>
            <a:ext cx="0" cy="137160"/>
          </a:xfrm>
          <a:prstGeom prst="bentConnector3">
            <a:avLst/>
          </a:prstGeom>
          <a:ln w="19050">
            <a:solidFill>
              <a:srgbClr val="34D39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6B7280"/>
                </a:solidFill>
                <a:latin typeface="Calibri"/>
              </a:rPr>
              <a:t>SUPER SKILL IA · BY CONECTA MARKET HUB · PROPOSTA BRAGA VEÍCULOS · CONFIDENCIAL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22D3EE"/>
                </a:solidFill>
                <a:latin typeface="Calibri"/>
              </a:rPr>
              <a:t>COBERTURA FÍSICA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Onde cada câmera vai entrar — dimensionado para os 27 boxes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577840" cy="47548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2D3EE"/>
                </a:solidFill>
                <a:latin typeface="Calibri"/>
              </a:rPr>
              <a:t>RAMOS FERREIRA  ·  Unidade Principal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18 boxes  ·  10 mecânicos  ·  0 auxiliares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6888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61288" y="2487168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53312" y="246888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91640" y="2487168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883664" y="246888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221992" y="2487168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414016" y="246888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52344" y="2487168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44368" y="246888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282696" y="2487168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74720" y="246888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13048" y="2487168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2999232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61288" y="3017520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353312" y="2999232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691640" y="3017520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883664" y="2999232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221992" y="3017520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414016" y="2999232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52344" y="3017520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944368" y="2999232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282696" y="3017520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474720" y="2999232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13048" y="3017520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2960" y="3529584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61288" y="3547872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53312" y="3529584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691640" y="3547872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883664" y="3529584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221992" y="3547872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414016" y="3529584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752344" y="3547872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944368" y="3529584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282696" y="3547872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474720" y="3529584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813048" y="3547872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22960" y="4617720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7280" y="45994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CA3AF"/>
                </a:solidFill>
                <a:latin typeface="Calibri"/>
              </a:rPr>
              <a:t>Box c/ elevador (16)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60" y="4937760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141A23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7280" y="49194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CA3AF"/>
                </a:solidFill>
                <a:latin typeface="Calibri"/>
              </a:rPr>
              <a:t>Box s/ elevador (2)</a:t>
            </a:r>
          </a:p>
        </p:txBody>
      </p:sp>
      <p:sp>
        <p:nvSpPr>
          <p:cNvPr id="49" name="Oval 48"/>
          <p:cNvSpPr/>
          <p:nvPr/>
        </p:nvSpPr>
        <p:spPr>
          <a:xfrm>
            <a:off x="914400" y="5330952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97280" y="52760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CA3AF"/>
                </a:solidFill>
                <a:latin typeface="Calibri"/>
              </a:rPr>
              <a:t>Câmera RTSP zenital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931920" y="2468880"/>
            <a:ext cx="1920240" cy="274320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69080" y="257860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22D3EE"/>
                </a:solidFill>
                <a:latin typeface="Calibri"/>
              </a:rPr>
              <a:t>CÂMERAS ESTRATÉGICAS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069080" y="292608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D"/>
                </a:solidFill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80560" y="29260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Boqueta de Peças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069080" y="338328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D"/>
                </a:solidFill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80560" y="33832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Alinhamento + Balanc.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069080" y="384048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D"/>
                </a:solidFill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80560" y="38404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Panorâmica de pátio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69080" y="46634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9CA3AF"/>
                </a:solidFill>
                <a:latin typeface="Calibri"/>
              </a:rPr>
              <a:t>TOTAL DE CÂMERAS RTSP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69080" y="48006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22D3EE"/>
                </a:solidFill>
                <a:latin typeface="Calibri"/>
              </a:rPr>
              <a:t>~22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00800" y="1463040"/>
            <a:ext cx="5212080" cy="47548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524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75120" y="16002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A78BFA"/>
                </a:solidFill>
                <a:latin typeface="Calibri"/>
              </a:rPr>
              <a:t>DJALMA BATISTA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75120" y="196596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9 boxes  ·  2 mecânicos  ·  2 auxiliares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675120" y="246888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013448" y="2487168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205472" y="246888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543800" y="2487168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7735824" y="246888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074152" y="2487168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8266176" y="246888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604504" y="2487168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8796528" y="246888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134856" y="2487168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9326880" y="2468880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665208" y="2487168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675120" y="2999232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013448" y="3017520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7205472" y="2999232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7543800" y="3017520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7735824" y="2999232"/>
            <a:ext cx="457200" cy="457200"/>
          </a:xfrm>
          <a:prstGeom prst="roundRect">
            <a:avLst>
              <a:gd name="adj" fmla="val 15000"/>
            </a:avLst>
          </a:prstGeom>
          <a:solidFill>
            <a:srgbClr val="141A23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074152" y="3017520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6675120" y="4617720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141A23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949440" y="45994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CA3AF"/>
                </a:solidFill>
                <a:latin typeface="Calibri"/>
              </a:rPr>
              <a:t>Box c/ elevador (3)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675120" y="4937760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141A23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949440" y="49194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CA3AF"/>
                </a:solidFill>
                <a:latin typeface="Calibri"/>
              </a:rPr>
              <a:t>Box s/ elevador (6)</a:t>
            </a:r>
          </a:p>
        </p:txBody>
      </p:sp>
      <p:sp>
        <p:nvSpPr>
          <p:cNvPr id="86" name="Oval 85"/>
          <p:cNvSpPr/>
          <p:nvPr/>
        </p:nvSpPr>
        <p:spPr>
          <a:xfrm>
            <a:off x="6766560" y="5330952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949440" y="52760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CA3AF"/>
                </a:solidFill>
                <a:latin typeface="Calibri"/>
              </a:rPr>
              <a:t>Câmera RTSP zenital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784080" y="2468880"/>
            <a:ext cx="1554480" cy="274320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921240" y="257860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A78BFA"/>
                </a:solidFill>
                <a:latin typeface="Calibri"/>
              </a:rPr>
              <a:t>CÂMERAS ESTRATÉGICAS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921240" y="292608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D"/>
                </a:solidFill>
              </a:rPr>
              <a:t>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332720" y="29260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Boqueta de Peças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921240" y="338328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D"/>
                </a:solidFill>
              </a:rP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332720" y="33832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Alinhamento + Balanc.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921240" y="3840480"/>
            <a:ext cx="320040" cy="32004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D"/>
                </a:solidFill>
              </a:rP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332720" y="38404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Panorâmica de pátio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921240" y="46634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 spc="300">
                <a:solidFill>
                  <a:srgbClr val="9CA3AF"/>
                </a:solidFill>
                <a:latin typeface="Calibri"/>
              </a:rPr>
              <a:t>TOTAL DE CÂMERAS RTSP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921240" y="48006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A78BFA"/>
                </a:solidFill>
                <a:latin typeface="Calibri"/>
              </a:rPr>
              <a:t>~13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6B7280"/>
                </a:solidFill>
                <a:latin typeface="Calibri"/>
              </a:rPr>
              <a:t>SUPER SKILL IA · BY CONECTA MARKET HUB · PROPOSTA BRAGA VEÍCULOS · CONFIDENCIAL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FBBF24"/>
                </a:solidFill>
                <a:latin typeface="Calibri"/>
              </a:rPr>
              <a:t>ÁREA ESTRATÉGICA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Boqueta de Peças — o gargalo declarado pela própria Braga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FBBF24"/>
                </a:solidFill>
                <a:latin typeface="Calibri"/>
              </a:rPr>
              <a:t>▸ DO RELATÓRIO DA BRAGA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BD5E1"/>
                </a:solidFill>
                <a:latin typeface="Calibri"/>
              </a:rPr>
              <a:t>"Elo de ligação imediata entre o estoque central e a equipe produtiva nos boxes. Minimiza deslocamentos, reduz Down Time e maximiza horas faturadas por OS."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307" y="2743200"/>
            <a:ext cx="2560320" cy="20116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5187" y="2880360"/>
            <a:ext cx="731520" cy="3200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7090D"/>
                </a:solidFill>
              </a:rPr>
              <a:t>T0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" y="33375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2D3EE"/>
                </a:solidFill>
                <a:latin typeface="Calibri"/>
              </a:rPr>
              <a:t>MECÂNICO CHEGA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467" y="374904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Motor de visão detecta
entrada e identifica
quem está aguardando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92627.5" y="3749040"/>
            <a:ext cx="228600.0" cy="0"/>
          </a:xfrm>
          <a:prstGeom prst="bentConnector3">
            <a:avLst/>
          </a:prstGeom>
          <a:ln w="25400">
            <a:solidFill>
              <a:srgbClr val="22D3E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21227" y="2743200"/>
            <a:ext cx="2560320" cy="20116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524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04107" y="2880360"/>
            <a:ext cx="731520" cy="32004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7090D"/>
                </a:solidFill>
              </a:rPr>
              <a:t>T0+5s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1227" y="33375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A78BFA"/>
                </a:solidFill>
                <a:latin typeface="Calibri"/>
              </a:rPr>
              <a:t>PEDIDO REGISTRADO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8387" y="374904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Sistema cruza com
OS aberta + peça
requisitada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81547.5" y="3749040"/>
            <a:ext cx="228600.0" cy="0"/>
          </a:xfrm>
          <a:prstGeom prst="bentConnector3">
            <a:avLst/>
          </a:prstGeom>
          <a:ln w="25400">
            <a:solidFill>
              <a:srgbClr val="A78BF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10147" y="2743200"/>
            <a:ext cx="2560320" cy="20116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93027" y="2880360"/>
            <a:ext cx="731520" cy="32004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7090D"/>
                </a:solidFill>
              </a:rPr>
              <a:t>T1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0147" y="33375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BBF24"/>
                </a:solidFill>
                <a:latin typeface="Calibri"/>
              </a:rPr>
              <a:t>ATENDIMENTO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7307" y="374904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Tempo de preparação
medido em segundos
(KPI Boqueta)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70467.5" y="3749040"/>
            <a:ext cx="228600.0" cy="0"/>
          </a:xfrm>
          <a:prstGeom prst="bentConnector3">
            <a:avLst/>
          </a:prstGeom>
          <a:ln w="25400">
            <a:solidFill>
              <a:srgbClr val="FBBF2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999067" y="2743200"/>
            <a:ext cx="2560320" cy="20116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1947" y="2880360"/>
            <a:ext cx="731520" cy="3200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07090D"/>
                </a:solidFill>
              </a:rPr>
              <a:t>T2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9067" y="33375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34D399"/>
                </a:solidFill>
                <a:latin typeface="Calibri"/>
              </a:rPr>
              <a:t>SAÍDA COM PEÇA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6227" y="3749040"/>
            <a:ext cx="2286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Mecânico sai →
volta ao box: fim do
Down Time medido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074920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166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34D399"/>
                </a:solidFill>
                <a:latin typeface="Calibri"/>
              </a:rPr>
              <a:t>RESULTADO MENSURÁVEL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4406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  <a:latin typeface="Calibri"/>
              </a:rPr>
              <a:t>Tempo médio no Boqueta · por unidade · por turno · por mecânico  ·  Down Time real por OS  ·  Onde investir para destravar a operação.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6B7280"/>
                </a:solidFill>
                <a:latin typeface="Calibri"/>
              </a:rPr>
              <a:t>SUPER SKILL IA · BY CONECTA MARKET HUB · PROPOSTA BRAGA VEÍCULOS · CONFIDENCIAL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34D399"/>
                </a:solidFill>
                <a:latin typeface="Calibri"/>
              </a:rPr>
              <a:t>INDICADORES PRÓPRIOS DA BRAGA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O que hoje você não tem — e vai passar a ter ao vivo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064240" cy="45720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300">
                <a:solidFill>
                  <a:srgbClr val="9CA3AF"/>
                </a:solidFill>
                <a:latin typeface="Calibri"/>
              </a:rPr>
              <a:t>INDICADOR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55448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300">
                <a:solidFill>
                  <a:srgbClr val="9CA3AF"/>
                </a:solidFill>
                <a:latin typeface="Calibri"/>
              </a:rPr>
              <a:t>HOJE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300">
                <a:solidFill>
                  <a:srgbClr val="9CA3AF"/>
                </a:solidFill>
                <a:latin typeface="Calibri"/>
              </a:rPr>
              <a:t>COM SUPER SKILL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5544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300">
                <a:solidFill>
                  <a:srgbClr val="9CA3AF"/>
                </a:solidFill>
                <a:latin typeface="Calibri"/>
              </a:rPr>
              <a:t>META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15544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300">
                <a:solidFill>
                  <a:srgbClr val="9CA3AF"/>
                </a:solidFill>
                <a:latin typeface="Calibri"/>
              </a:rPr>
              <a:t>BENEFÍCIO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11680"/>
            <a:ext cx="11064240" cy="6400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116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5E7EB"/>
                </a:solidFill>
                <a:latin typeface="Calibri"/>
              </a:rPr>
              <a:t>Down Time médio por 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01168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≈ não medido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2D3EE"/>
                </a:solidFill>
                <a:latin typeface="Calibri"/>
              </a:rPr>
              <a:t>Em segundos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01168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Calibri"/>
              </a:rPr>
              <a:t>-40%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201168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Reduz tempo de veículo parado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651760"/>
            <a:ext cx="11064240" cy="64008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6517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5E7EB"/>
                </a:solidFill>
                <a:latin typeface="Calibri"/>
              </a:rPr>
              <a:t>Tempo na Boqueta de Peças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65176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≈ não medido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65176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BBF24"/>
                </a:solidFill>
                <a:latin typeface="Calibri"/>
              </a:rPr>
              <a:t>Em segundos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65176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Calibri"/>
              </a:rPr>
              <a:t>-60%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265176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Destrava o gargalo declarado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291840"/>
            <a:ext cx="11064240" cy="6400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29184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5E7EB"/>
                </a:solidFill>
                <a:latin typeface="Calibri"/>
              </a:rPr>
              <a:t>Taxa de ocupação por box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29184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Visual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29184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  <a:latin typeface="Calibri"/>
              </a:rPr>
              <a:t>% por turno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29184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Calibri"/>
              </a:rPr>
              <a:t>+30%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329184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Box c/ elev × s/ elev separados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931920"/>
            <a:ext cx="11064240" cy="64008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93192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5E7EB"/>
                </a:solidFill>
                <a:latin typeface="Calibri"/>
              </a:rPr>
              <a:t>HF reais × HF apuradas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393192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Apenas pela 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93192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34D399"/>
                </a:solidFill>
                <a:latin typeface="Calibri"/>
              </a:rPr>
              <a:t>HF cruzada c/ presença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393192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Calibri"/>
              </a:rPr>
              <a:t>+20%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393192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Mecânico esteve no carro?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572000"/>
            <a:ext cx="11064240" cy="6400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57200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5E7EB"/>
                </a:solidFill>
                <a:latin typeface="Calibri"/>
              </a:rPr>
              <a:t>Fila nas máquinas críticas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457200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Ninguém vê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57200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87171"/>
                </a:solidFill>
                <a:latin typeface="Calibri"/>
              </a:rPr>
              <a:t>Veículos × minutos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45720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Calibri"/>
              </a:rPr>
              <a:t>-50%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60" y="457200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Alinhamento e balanceamento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212080"/>
            <a:ext cx="11064240" cy="64008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2120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5E7EB"/>
                </a:solidFill>
                <a:latin typeface="Calibri"/>
              </a:rPr>
              <a:t>Comparativo Ramos × Djalma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0" y="521208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Planilha mensal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521208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2D3EE"/>
                </a:solidFill>
                <a:latin typeface="Calibri"/>
              </a:rPr>
              <a:t>Tempo real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521208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Calibri"/>
              </a:rPr>
              <a:t>Diário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66960" y="521208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Benchmarking interno objetivo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6B7280"/>
                </a:solidFill>
                <a:latin typeface="Calibri"/>
              </a:rPr>
              <a:t>SUPER SKILL IA · BY CONECTA MARKET HUB · PROPOSTA BRAGA VEÍCULOS · CONFIDENCIAL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22D3EE"/>
                </a:solidFill>
                <a:latin typeface="Calibri"/>
              </a:rPr>
              <a:t>EXPERIÊNCIA DO GESTOR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Sua Torre de Controle — mockup Braga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2286000" cy="411480"/>
          </a:xfrm>
          <a:prstGeom prst="roundRect">
            <a:avLst>
              <a:gd name="adj" fmla="val 30000"/>
            </a:avLst>
          </a:prstGeom>
          <a:solidFill>
            <a:srgbClr val="22D3EE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300">
                <a:solidFill>
                  <a:srgbClr val="07090D"/>
                </a:solidFill>
                <a:latin typeface="Calibri"/>
              </a:rPr>
              <a:t>CONSOLIDADO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417320"/>
            <a:ext cx="2286000" cy="411480"/>
          </a:xfrm>
          <a:prstGeom prst="roundRect">
            <a:avLst>
              <a:gd name="adj" fmla="val 30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41732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300">
                <a:solidFill>
                  <a:srgbClr val="9CA3AF"/>
                </a:solidFill>
                <a:latin typeface="Calibri"/>
              </a:rPr>
              <a:t>RAMOS FERREIRA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417320"/>
            <a:ext cx="2286000" cy="411480"/>
          </a:xfrm>
          <a:prstGeom prst="roundRect">
            <a:avLst>
              <a:gd name="adj" fmla="val 30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1417320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300">
                <a:solidFill>
                  <a:srgbClr val="9CA3AF"/>
                </a:solidFill>
                <a:latin typeface="Calibri"/>
              </a:rPr>
              <a:t>DJALMA BATISTA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141732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34D399"/>
                </a:solidFill>
                <a:latin typeface="Calibri"/>
              </a:rPr>
              <a:t>● AO VIVO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01168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1031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00">
                <a:solidFill>
                  <a:srgbClr val="9CA3AF"/>
                </a:solidFill>
                <a:latin typeface="Calibri"/>
              </a:rPr>
              <a:t>BOXES ATIVOS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395728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D3EE"/>
                </a:solidFill>
                <a:latin typeface="Calibri"/>
              </a:rPr>
              <a:t>23 / 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9260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85% ocupação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201168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1031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00">
                <a:solidFill>
                  <a:srgbClr val="9CA3AF"/>
                </a:solidFill>
                <a:latin typeface="Calibri"/>
              </a:rPr>
              <a:t>DOWN TIME MÉDIO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395728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4D399"/>
                </a:solidFill>
                <a:latin typeface="Calibri"/>
              </a:rPr>
              <a:t>1h 47m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260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-32% vs base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01168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1031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00">
                <a:solidFill>
                  <a:srgbClr val="9CA3AF"/>
                </a:solidFill>
                <a:latin typeface="Calibri"/>
              </a:rPr>
              <a:t>BOQUETA — ESPERA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395728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BBF24"/>
                </a:solidFill>
                <a:latin typeface="Calibri"/>
              </a:rPr>
              <a:t>2m 18s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9260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Ramos Ferreira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2011680"/>
            <a:ext cx="2697480" cy="12801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21031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00">
                <a:solidFill>
                  <a:srgbClr val="9CA3AF"/>
                </a:solidFill>
                <a:latin typeface="Calibri"/>
              </a:rPr>
              <a:t>HORAS FATURADAS HOJE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395728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A78BFA"/>
                </a:solidFill>
                <a:latin typeface="Calibri"/>
              </a:rPr>
              <a:t>63 HF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9260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meta diária 72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520440"/>
            <a:ext cx="7315200" cy="26517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1C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63016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9CA3AF"/>
                </a:solidFill>
                <a:latin typeface="Calibri"/>
              </a:rPr>
              <a:t>FEED AO VIVO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36301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34D399"/>
                </a:solidFill>
                <a:latin typeface="Calibri"/>
              </a:rPr>
              <a:t>● IA ATIVA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0233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14:32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0233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João Silva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402336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iniciou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4760" y="402336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Troca de Óleo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23560" y="402336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E5E7EB"/>
                </a:solidFill>
                <a:latin typeface="Calibri"/>
              </a:rPr>
              <a:t>ABC1D23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0233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Box 04 RF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4348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14:31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44348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Carlos Mota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17520" y="443484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entrou no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94760" y="44348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Boqueta de Peças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23560" y="443484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E5E7EB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44348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RF · 2m 18s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48463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14:30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48463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Maria Costa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0" y="484632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iniciou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94760" y="484632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Alinhamento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3560" y="484632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E5E7EB"/>
                </a:solidFill>
                <a:latin typeface="Calibri"/>
              </a:rPr>
              <a:t>XYZ9K88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48463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Máq. 1 DJ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" y="52578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14:29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71600" y="52578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ALERTA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17520" y="525780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94760" y="525780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  <a:latin typeface="Calibri"/>
              </a:rPr>
              <a:t>Box 7 ocioso 14min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23560" y="525780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E5E7EB"/>
                </a:solidFill>
                <a:latin typeface="Calibri"/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0" y="52578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Djalma B.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" y="56692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14:28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71600" y="56692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Calibri"/>
              </a:rPr>
              <a:t>Pedro Alves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17520" y="566928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concluiu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94760" y="566928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Funilaria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23560" y="566928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E5E7EB"/>
                </a:solidFill>
                <a:latin typeface="Calibri"/>
              </a:rPr>
              <a:t>HCU2024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0" y="56692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Box 12 RF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001000" y="3520440"/>
            <a:ext cx="3611880" cy="26517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83879" y="36301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A78BFA"/>
                </a:solidFill>
                <a:latin typeface="Calibri"/>
              </a:rPr>
              <a:t>RAMOS × DJALMA · HOJE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83879" y="3977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300">
                <a:solidFill>
                  <a:srgbClr val="9CA3AF"/>
                </a:solidFill>
                <a:latin typeface="Calibri"/>
              </a:rPr>
              <a:t>MÉTRICA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92640" y="39776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300">
                <a:solidFill>
                  <a:srgbClr val="22D3EE"/>
                </a:solidFill>
                <a:latin typeface="Calibri"/>
              </a:rPr>
              <a:t>RAMOS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98480" y="39776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300">
                <a:solidFill>
                  <a:srgbClr val="A78BFA"/>
                </a:solidFill>
                <a:latin typeface="Calibri"/>
              </a:rPr>
              <a:t>DJALMA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83879" y="42976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Boxes ativos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92640" y="42976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2D3EE"/>
                </a:solidFill>
                <a:latin typeface="Calibri"/>
              </a:rPr>
              <a:t>16/18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698480" y="42976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2D3EE"/>
                </a:solidFill>
                <a:latin typeface="Calibri"/>
              </a:rPr>
              <a:t>7/9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183879" y="46634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HF realizadas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92640" y="46634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34D399"/>
                </a:solidFill>
                <a:latin typeface="Calibri"/>
              </a:rPr>
              <a:t>44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98480" y="46634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34D399"/>
                </a:solidFill>
                <a:latin typeface="Calibri"/>
              </a:rPr>
              <a:t>19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183879" y="50292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Down Time médio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92640" y="50292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BBF24"/>
                </a:solidFill>
                <a:latin typeface="Calibri"/>
              </a:rPr>
              <a:t>1h 32m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98480" y="50292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BBF24"/>
                </a:solidFill>
                <a:latin typeface="Calibri"/>
              </a:rPr>
              <a:t>2h 18m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183879" y="5394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Boqueta (espera)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92640" y="53949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BBF24"/>
                </a:solidFill>
                <a:latin typeface="Calibri"/>
              </a:rPr>
              <a:t>2m 18s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698480" y="53949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BBF24"/>
                </a:solidFill>
                <a:latin typeface="Calibri"/>
              </a:rPr>
              <a:t>3m 47s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83879" y="57607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Retrabalho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92640" y="57607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87171"/>
                </a:solidFill>
                <a:latin typeface="Calibri"/>
              </a:rPr>
              <a:t>1.4%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98480" y="57607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87171"/>
                </a:solidFill>
                <a:latin typeface="Calibri"/>
              </a:rPr>
              <a:t>3.1%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6B7280"/>
                </a:solidFill>
                <a:latin typeface="Calibri"/>
              </a:rPr>
              <a:t>SUPER SKILL IA · BY CONECTA MARKET HUB · PROPOSTA BRAGA VEÍCULOS · CONFIDENCIAL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A78BFA"/>
                </a:solidFill>
                <a:latin typeface="Calibri"/>
              </a:rPr>
              <a:t>VISÃO CRUZADA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O que muda quando Ramos e Djalma operam sob o mesmo radar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577840" cy="420624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2D3EE"/>
                </a:solidFill>
                <a:latin typeface="Calibri"/>
              </a:rPr>
              <a:t>RAMOS FERREIRA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Unidade principal · alta densidade de elevadores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Boxes operacionais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22D3EE"/>
                </a:solidFill>
                <a:latin typeface="Calibri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% com elevador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260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22D3EE"/>
                </a:solidFill>
                <a:latin typeface="Calibri"/>
              </a:rPr>
              <a:t>89%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Mecânicos / auxiliares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832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22D3EE"/>
                </a:solidFill>
                <a:latin typeface="Calibri"/>
              </a:rPr>
              <a:t>10 /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404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Razão box por mecânico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404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22D3EE"/>
                </a:solidFill>
                <a:latin typeface="Calibri"/>
              </a:rPr>
              <a:t>1.8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976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Câmeras RTSP propostas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976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22D3EE"/>
                </a:solidFill>
                <a:latin typeface="Calibri"/>
              </a:rPr>
              <a:t>~22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548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Concentração de produção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548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22D3EE"/>
                </a:solidFill>
                <a:latin typeface="Calibri"/>
              </a:rPr>
              <a:t>ALTA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463040"/>
            <a:ext cx="5349240" cy="420624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160020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A78BFA"/>
                </a:solidFill>
                <a:latin typeface="Calibri"/>
              </a:rPr>
              <a:t>DJALMA BATISTA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196596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Operação leve · maior peso de auxiliares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4688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Boxes operacionais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4688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A78BFA"/>
                </a:solidFill>
                <a:latin typeface="Calibri"/>
              </a:rPr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9260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% com elevador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9260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A78BFA"/>
                </a:solidFill>
                <a:latin typeface="Calibri"/>
              </a:rPr>
              <a:t>33%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3832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Mecânicos / auxiliares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3832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A78BFA"/>
                </a:solidFill>
                <a:latin typeface="Calibri"/>
              </a:rPr>
              <a:t>2 /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8404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Razão box por mecânico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8404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A78BFA"/>
                </a:solidFill>
                <a:latin typeface="Calibri"/>
              </a:rPr>
              <a:t>4.5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2976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Câmeras RTSP propostas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2976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A78BFA"/>
                </a:solidFill>
                <a:latin typeface="Calibri"/>
              </a:rPr>
              <a:t>~13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7548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Concentração de produção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7548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 i="0">
                <a:solidFill>
                  <a:srgbClr val="A78BFA"/>
                </a:solidFill>
                <a:latin typeface="Calibri"/>
              </a:rPr>
              <a:t>DILUÍDA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85216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85216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34D399"/>
                </a:solidFill>
                <a:latin typeface="Calibri"/>
              </a:rPr>
              <a:t>INSIGHT: razão box/mecânico em Djalma é 2.5× maior — capacidade ociosa OU subdimensionamento?  A IA responde em tempo real.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6B7280"/>
                </a:solidFill>
                <a:latin typeface="Calibri"/>
              </a:rPr>
              <a:t>SUPER SKILL IA · BY CONECTA MARKET HUB · PROPOSTA BRAGA VEÍCULOS · CONFIDENCIAL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22D3EE"/>
                </a:solidFill>
                <a:latin typeface="Calibri"/>
              </a:rPr>
              <a:t>PLANO DE ENTREGA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Stack consolidada → 5 semanas a menos no cronograma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867" y="1645920"/>
            <a:ext cx="2606040" cy="33832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9467" y="1874520"/>
            <a:ext cx="914400" cy="3200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D"/>
                </a:solidFill>
              </a:rPr>
              <a:t>FASE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867" y="237744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E5E7EB"/>
                </a:solidFill>
                <a:latin typeface="Calibri"/>
              </a:rPr>
              <a:t>INFRA + MOTOR DE VISÃO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867" y="292608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22D3EE"/>
                </a:solidFill>
                <a:latin typeface="Calibri"/>
              </a:rPr>
              <a:t>Sem.
1-2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747" y="384048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Calibri"/>
              </a:rPr>
              <a:t>Motor de visão ativo
em Djalma + barramento
de eventos + banco.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46907.5" y="3337560.0"/>
            <a:ext cx="228600.0" cy="0.0"/>
          </a:xfrm>
          <a:prstGeom prst="bentConnector3">
            <a:avLst/>
          </a:prstGeom>
          <a:ln w="25400">
            <a:solidFill>
              <a:srgbClr val="22D3E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75507" y="1645920"/>
            <a:ext cx="2606040" cy="33832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04107" y="1874520"/>
            <a:ext cx="914400" cy="32004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D"/>
                </a:solidFill>
              </a:rPr>
              <a:t>FASE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5507" y="237744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E5E7EB"/>
                </a:solidFill>
                <a:latin typeface="Calibri"/>
              </a:rPr>
              <a:t>CAMADA DE NEGÓCIO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5507" y="292608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A78BFA"/>
                </a:solidFill>
                <a:latin typeface="Calibri"/>
              </a:rPr>
              <a:t>Sem.
3-4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8387" y="384048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Calibri"/>
              </a:rPr>
              <a:t>Módulos Boqueta,
Box, Equipamento ativos.
KPIs Braga em produção.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81547.5" y="3337560.0"/>
            <a:ext cx="228600.0" cy="0.0"/>
          </a:xfrm>
          <a:prstGeom prst="bentConnector3">
            <a:avLst/>
          </a:prstGeom>
          <a:ln w="25400">
            <a:solidFill>
              <a:srgbClr val="A78BF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10147" y="1645920"/>
            <a:ext cx="2606040" cy="33832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38747" y="1874520"/>
            <a:ext cx="914400" cy="32004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D"/>
                </a:solidFill>
              </a:rPr>
              <a:t>FASE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0147" y="237744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E5E7EB"/>
                </a:solidFill>
                <a:latin typeface="Calibri"/>
              </a:rPr>
              <a:t>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0147" y="292608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BBF24"/>
                </a:solidFill>
                <a:latin typeface="Calibri"/>
              </a:rPr>
              <a:t>Sem.
5-6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3027" y="384048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Calibri"/>
              </a:rPr>
              <a:t>Torre de Controle
entregue. Validação
com gestor Djalma.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16187.5" y="3337560.0"/>
            <a:ext cx="228600.0" cy="0.0"/>
          </a:xfrm>
          <a:prstGeom prst="bentConnector3">
            <a:avLst/>
          </a:prstGeom>
          <a:ln w="25400">
            <a:solidFill>
              <a:srgbClr val="FBBF2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044787" y="1645920"/>
            <a:ext cx="2606040" cy="338328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73387" y="1874520"/>
            <a:ext cx="914400" cy="3200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7090D"/>
                </a:solidFill>
              </a:rPr>
              <a:t>FASE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4787" y="237744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E5E7EB"/>
                </a:solidFill>
                <a:latin typeface="Calibri"/>
              </a:rPr>
              <a:t>ROLLOUT RAMOS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4787" y="292608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34D399"/>
                </a:solidFill>
                <a:latin typeface="Calibri"/>
              </a:rPr>
              <a:t>Sem.
7-9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7667" y="3840480"/>
            <a:ext cx="2240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Calibri"/>
              </a:rPr>
              <a:t>Replicação completa
em Ramos Ferreira.
Comparativo cruzado 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349240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spc="300">
                <a:solidFill>
                  <a:srgbClr val="34D399"/>
                </a:solidFill>
                <a:latin typeface="Calibri"/>
              </a:rPr>
              <a:t>9 SEMANAS PARA OPERAÇÃO COMPLETA  ·  PILOTO VALIDADO EM 6 SEMANAS  ·  STACK CONSOLIDADA · RISCO TÉCNICO MITIGADO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6B7280"/>
                </a:solidFill>
                <a:latin typeface="Calibri"/>
              </a:rPr>
              <a:t>SUPER SKILL IA · BY CONECTA MARKET HUB · PROPOSTA BRAGA VEÍCULOS · CONFIDENCIAL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22D3EE"/>
                </a:solidFill>
                <a:latin typeface="Calibri"/>
              </a:rPr>
              <a:t>POR QUE ESTA ARQUITETURA GANHA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5E7EB"/>
                </a:solidFill>
                <a:latin typeface="Calibri"/>
              </a:rPr>
              <a:t>4 razões objetivas — em linguagem de gestor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394960" cy="19659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22D3EE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20" y="201168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300">
                <a:solidFill>
                  <a:srgbClr val="22D3EE"/>
                </a:solidFill>
                <a:latin typeface="Calibri"/>
              </a:rPr>
              <a:t>RISCO DIVIDIDO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20" y="2468880"/>
            <a:ext cx="3931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A camada de visão usa stack industrial consolidada.
O risco de modelo cai praticamente a zero.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394960" cy="19659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196596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96596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A78BFA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01168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300">
                <a:solidFill>
                  <a:srgbClr val="A78BFA"/>
                </a:solidFill>
                <a:latin typeface="Calibri"/>
              </a:rPr>
              <a:t>TIME-TO-VALUE EM 6 SEMANAS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2468880"/>
            <a:ext cx="3931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Em vez de 11 semanas treinando modelos, validamos
o produto na Djalma em 6 semanas.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86200"/>
            <a:ext cx="5394960" cy="19659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41605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6052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34D399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20" y="420624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300">
                <a:solidFill>
                  <a:srgbClr val="34D399"/>
                </a:solidFill>
                <a:latin typeface="Calibri"/>
              </a:rPr>
              <a:t>DADOS FICAM NA BRAGA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20" y="4663440"/>
            <a:ext cx="3931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Edge local em cada unidade. Funciona com internet
instável. Nenhum frame de câmera sai do prédio.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886200"/>
            <a:ext cx="5394960" cy="196596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46520" y="41605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141A23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16052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BBF24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420624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300">
                <a:solidFill>
                  <a:srgbClr val="FBBF24"/>
                </a:solidFill>
                <a:latin typeface="Calibri"/>
              </a:rPr>
              <a:t>INVESTIMENTO ESCALÁVEL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4663440"/>
            <a:ext cx="3931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Comece pela Djalma (9 boxes). Se gerar resultado,
replicamos em Ramos. Decisão por dado, não por fé.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6B7280"/>
                </a:solidFill>
                <a:latin typeface="Calibri"/>
              </a:rPr>
              <a:t>SUPER SKILL IA · BY CONECTA MARKET HUB · PROPOSTA BRAGA VEÍCULOS · CONFIDENCIAL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22D3EE"/>
                </a:solidFill>
                <a:latin typeface="Calibri"/>
              </a:rPr>
              <a:t>PRÓXIMO PASSO · BRAGA VEÍCULOS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5E7EB"/>
                </a:solidFill>
                <a:latin typeface="Calibri"/>
              </a:rPr>
              <a:t>Vamos transformar os seus 27 boxes
no maior diferencial competitivo do mercado.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794510"/>
            <a:ext cx="2194560" cy="240029"/>
          </a:xfrm>
          <a:prstGeom prst="roundRect">
            <a:avLst>
              <a:gd name="adj" fmla="val 35000"/>
            </a:avLst>
          </a:prstGeom>
          <a:solidFill>
            <a:srgbClr val="07090D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441180" y="1520190"/>
            <a:ext cx="1234440" cy="342900"/>
          </a:xfrm>
          <a:prstGeom prst="roundRect">
            <a:avLst>
              <a:gd name="adj" fmla="val 45000"/>
            </a:avLst>
          </a:prstGeom>
          <a:solidFill>
            <a:srgbClr val="07090D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8823960.0" y="2068830.0"/>
            <a:ext cx="2468880.0" cy="0.0"/>
          </a:xfrm>
          <a:prstGeom prst="line">
            <a:avLst/>
          </a:prstGeom>
          <a:ln w="6350">
            <a:solidFill>
              <a:srgbClr val="22D3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132570" y="1931670"/>
            <a:ext cx="219456" cy="219456"/>
          </a:xfrm>
          <a:prstGeom prst="ellipse">
            <a:avLst/>
          </a:prstGeom>
          <a:solidFill>
            <a:srgbClr val="07090D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64774" y="1931670"/>
            <a:ext cx="219456" cy="219456"/>
          </a:xfrm>
          <a:prstGeom prst="ellipse">
            <a:avLst/>
          </a:prstGeom>
          <a:solidFill>
            <a:srgbClr val="07090D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5029200" cy="27432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461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22D3EE"/>
                </a:solidFill>
                <a:latin typeface="Calibri"/>
              </a:rPr>
              <a:t>O QUE VOCÊ RECEBE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657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Cobertura completa: 27 boxes em 2 unidades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05072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0507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~35 câmeras RTSP — motor de visão proprietário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52544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352544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Barramento de eventos + módulos exclusivos Braga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00016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700016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Boqueta de Peças instrumentada (Down Time)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4748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4748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Dashboard com toggle Ramos × Djalma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3949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Roadmap de 9 semanas (piloto em 6)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9320" y="3108960"/>
            <a:ext cx="1874519" cy="27432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3291840"/>
            <a:ext cx="15087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2D3EE"/>
                </a:solidFill>
                <a:latin typeface="Calibri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3977640"/>
            <a:ext cx="15087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5E7EB"/>
                </a:solidFill>
                <a:latin typeface="Calibri"/>
              </a:rPr>
              <a:t>WORKSHOP DE
DESCOBERTA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892040"/>
            <a:ext cx="150875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1 dia em
Ramos Ferreira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00999" y="3108960"/>
            <a:ext cx="1874519" cy="27432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79" y="3291840"/>
            <a:ext cx="15087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A78BFA"/>
                </a:solidFill>
                <a:latin typeface="Calibri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3977640"/>
            <a:ext cx="15087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5E7EB"/>
                </a:solidFill>
                <a:latin typeface="Calibri"/>
              </a:rPr>
              <a:t>PILOTO
DJALMA BATISTA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9" y="4892040"/>
            <a:ext cx="150875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Fases 1–3
em 6 semanas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12678" y="3108960"/>
            <a:ext cx="1874519" cy="27432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95558" y="3291840"/>
            <a:ext cx="15087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4D399"/>
                </a:solidFill>
                <a:latin typeface="Calibri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5558" y="3977640"/>
            <a:ext cx="15087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5E7EB"/>
                </a:solidFill>
                <a:latin typeface="Calibri"/>
              </a:rPr>
              <a:t>ROLLOUT
RAMOS FERREIRA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5558" y="4892040"/>
            <a:ext cx="150875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Sistema completo
em 9 semanas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989320"/>
            <a:ext cx="10789920" cy="5486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98932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spc="300">
                <a:solidFill>
                  <a:srgbClr val="07090D"/>
                </a:solidFill>
                <a:latin typeface="Calibri"/>
              </a:rPr>
              <a:t>VAMOS AGENDAR A DESCOBERTA NA BRAGA VEÍCULOS?  →  CONTRATAR &amp; COMEÇAR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6294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6B7280"/>
                </a:solidFill>
                <a:latin typeface="Calibri"/>
              </a:rPr>
              <a:t>Super Skill IA · by Conecta Market Hub · Proposta confidencial dirigida à Braga Veículos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