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98079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3816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1832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PROPOSTA EXECUTIVA EXCLUSIVA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BD5E1"/>
                </a:solidFill>
                <a:latin typeface="Calibri"/>
              </a:rPr>
              <a:t>Para Braga Veículos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E5E7EB"/>
                </a:solidFill>
                <a:latin typeface="Calibri"/>
              </a:rPr>
              <a:t>Super Skill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2D3EE"/>
                </a:solidFill>
                <a:latin typeface="Calibri"/>
              </a:rPr>
              <a:t>Gêmeo digital dos seus 27 boxes — integrado a WEG Vision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Visão Computacional pronta de mercado + nossa camada exclusiva
de inteligência de negócio (Boqueta de Peças, Down Time, HF real).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336292"/>
            <a:ext cx="2633472" cy="288036"/>
          </a:xfrm>
          <a:prstGeom prst="roundRect">
            <a:avLst>
              <a:gd name="adj" fmla="val 3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51976" y="2007108"/>
            <a:ext cx="1481328" cy="411480"/>
          </a:xfrm>
          <a:prstGeom prst="roundRect">
            <a:avLst>
              <a:gd name="adj" fmla="val 4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11312.0" y="2665476.0"/>
            <a:ext cx="2962656.0" cy="0.0"/>
          </a:xfrm>
          <a:prstGeom prst="line">
            <a:avLst/>
          </a:prstGeom>
          <a:ln w="6350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81644" y="2500884"/>
            <a:ext cx="263347" cy="263347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40289" y="2500884"/>
            <a:ext cx="263347" cy="263347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41180" y="1440180"/>
            <a:ext cx="502920" cy="502920"/>
          </a:xfrm>
          <a:prstGeom prst="rect">
            <a:avLst/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6326" y="1465326"/>
            <a:ext cx="75438" cy="7543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43516" y="1465326"/>
            <a:ext cx="75438" cy="7543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6326" y="1842516"/>
            <a:ext cx="75438" cy="7543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692640" y="1938528"/>
            <a:ext cx="0" cy="164592"/>
          </a:xfrm>
          <a:prstGeom prst="line">
            <a:avLst/>
          </a:prstGeom>
          <a:ln w="9525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6B7280"/>
                </a:solidFill>
                <a:latin typeface="Calibri"/>
              </a:rPr>
              <a:t>QR A4 NO TETO → CÂMERA ZENITAL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BOXES MONITORADOS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  <a:latin typeface="Calibri"/>
              </a:rPr>
              <a:t>~35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CÂMERAS · 2 UNIDADES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PRODUTIVOS RASTREADOS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BOQUETA INSTRUMENTADA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E5E7EB"/>
                </a:solidFill>
                <a:latin typeface="Calibri"/>
              </a:rPr>
              <a:t>WEG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VISION AI INTEGRADO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Sua operação hoje — o que o relatório nos mostrou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12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MECÂNICOS + AUXILIARES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2 + 2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ALINHAMENTO + BALANCEAMENTO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22D3EE"/>
                </a:solidFill>
                <a:latin typeface="Calibri"/>
              </a:rPr>
              <a:t>DISTRIBUIÇÃO POR 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9CA3AF"/>
                </a:solidFill>
                <a:latin typeface="Calibri"/>
              </a:rPr>
              <a:t>UNIDADE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BOX C/ ELEVADOR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291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BOX S/ ELEVADOR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MECÂNICOS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2918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AUXILIARES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Ramos Ferreira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7490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7490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7490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7490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74904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4340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434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Djalma Batista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434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3434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3434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3434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43434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3776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TOTAL CONSOLIDADO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37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937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9377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9377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493776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Fonte: Relatório Consolidado de Infraestrutura Braga Veículos.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87171"/>
                </a:solidFill>
                <a:latin typeface="Calibri"/>
              </a:rPr>
              <a:t>ONDE ESTÁ DOENDO DE VERDADE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4 gargalos invisíveis na sua operação hoje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  <a:latin typeface="Calibr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DOWN TIME INVISÍVEL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19456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Você mede quanto tempo o veículo fica parado.
Não mede POR QUÊ.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8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  <a:latin typeface="Calibri"/>
              </a:rPr>
              <a:t>▸ Cada hora ociosa = HF não faturada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BOQUETA DE PEÇAS SEM MÉTRICA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 elo mais crítico — e o único sem dado objetivo.
Quanto o mecânico espera ali?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15468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▸ Área declarada estratégica no relatório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023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DESBALANÇO ENTRE UNIDADES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434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Ramos: 18 boxes, 10 mecânicos.
Djalma: 9 boxes, 4 produtivos. Produtividade real?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9496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▸ Sem comparativo objetivo entre as duas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690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023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MÁQUINAS GARGALO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434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Só 2 alinhamentos e 2 balanceamentos.
Quantos veículos esperam, quantos minutos por dia?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39496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▸ Recurso escasso, sem fila instrumentada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Solução híbrida: WEG Vision AI faz a visão. Nós fazemos a inteligência.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BD5E1"/>
                </a:solidFill>
                <a:latin typeface="Calibri"/>
              </a:rPr>
              <a:t>Não vamos reinventar a roda da visão computacional.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Vamos combinar uma plataforma industrial consolidada (WEG Vision AI) com a nossa camada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exclusiva — modelada para os 27 boxes, a Boqueta de Peças e os KPIs Braga.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WEG VISION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CA3AF"/>
                </a:solidFill>
                <a:latin typeface="Calibri"/>
              </a:rPr>
              <a:t>PLATAFORMA INDUSTRIAL · CAPTURA + INFERÊNCIA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118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Conecta nas câmeras IP/RTSP existentes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593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Detecta pessoas, veículos, EPI e contagens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0682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068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Roda on-premise (edge local)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5429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5429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Publica eventos via protocolo MQTT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0176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01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Aproveita infraestrutura já instalada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4937760" cy="4114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E7EB"/>
                </a:solidFill>
                <a:latin typeface="Calibri"/>
              </a:rPr>
              <a:t>PRONTO. CONFIÁVEL. INDUSTRIAL.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43200"/>
            <a:ext cx="5349240" cy="3291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8803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SUPER SKILL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004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CA3AF"/>
                </a:solidFill>
                <a:latin typeface="Calibri"/>
              </a:rPr>
              <a:t>CAMADA EXCLUSIVA BRAGA · INTELIGÊNCIA DE NEGÓCIO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118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11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Bridge MQTT → fila Redis (tradução semântica)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959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5935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Módulo dedicado: Boqueta de Peças (Down Time)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0682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306824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KPIs Braga: HF real × apurada, ocupação por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65429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54296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Comparativo cruzado Ramos × Djalma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00176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00176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Torre de Controle ao vivo (Next.js + WebSocket)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5440680"/>
            <a:ext cx="4800600" cy="4114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406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SOB MEDIDA. SUA OPERAÇÃO. SEU PRODUTO.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0" y="4389120"/>
            <a:ext cx="228600" cy="0"/>
          </a:xfrm>
          <a:prstGeom prst="bentConnector3">
            <a:avLst/>
          </a:prstGeom>
          <a:ln w="3175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760720" y="4069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22D3EE"/>
                </a:solidFill>
                <a:latin typeface="Calibri"/>
              </a:rPr>
              <a:t>MQTT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Calibri"/>
              </a:rPr>
              <a:t>QUEM FAZ O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Tabela clara de responsabilidades — sem sobreposição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TAREFA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5544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E5E7EB"/>
                </a:solidFill>
                <a:latin typeface="Calibri"/>
              </a:rPr>
              <a:t>WEG VISION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5544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22D3EE"/>
                </a:solidFill>
                <a:latin typeface="Calibri"/>
              </a:rPr>
              <a:t>SUPER SKILL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Conexão com câmeras IP/RTSP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0574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BD5E1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05740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41448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41448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Detecção de pessoas / veículos / EPI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41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BD5E1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4144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25496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25496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Inferência on-premise /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82549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BD5E1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2549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09544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09544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Tradução semântica (mecânico, OS, box)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095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095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93592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593592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Lógica da Boqueta de Peças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593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59359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40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977640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Cálculo de Down Time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7764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9776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361688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361688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KPIs Braga (HF real, ocupação)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36168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36168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45736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45736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Comparativo Ramos × Djalma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74573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74573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29784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129784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Dashboard Torre de Controle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12978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12978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513832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513832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Histórico operacional (PostgreSQL)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551383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5138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RESULTADO: -5 semanas de desenvolvimento · risco técnico transferido · foco 100% no que diferencia a Braga.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Como o WEG Vision AI conversa com o Super Skill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22D3EE"/>
                </a:solidFill>
                <a:latin typeface="Calibri"/>
              </a:rPr>
              <a:t>RAMOS FERREIRA · ~22 CÂMERAS RTSP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4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8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902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86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90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74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78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062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666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650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254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238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42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26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30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414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173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A78BFA"/>
                </a:solidFill>
                <a:latin typeface="Calibri"/>
              </a:rPr>
              <a:t>DJALMA BATISTA · ~13 CÂMERAS RTSP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26115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24541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44572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2998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63029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61455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486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79912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99943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98369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718400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6826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697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5E7EB"/>
                </a:solidFill>
                <a:latin typeface="Calibri"/>
              </a:rPr>
              <a:t>WEG VISION AI · INFERÊNCIA ON-PREMISE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0175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Pessoas · Veículos · EPI · Contagens · Padrões operacionais  →  publica eventos em MQTT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017520" y="2194560"/>
            <a:ext cx="0" cy="411480"/>
          </a:xfrm>
          <a:prstGeom prst="bentConnector3">
            <a:avLst/>
          </a:prstGeom>
          <a:ln w="1905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52560" y="2194560"/>
            <a:ext cx="0" cy="411480"/>
          </a:xfrm>
          <a:prstGeom prst="bentConnector3">
            <a:avLst/>
          </a:prstGeom>
          <a:ln w="1905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114800" y="3703320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370332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BBF24"/>
                </a:solidFill>
                <a:latin typeface="Calibri"/>
              </a:rPr>
              <a:t>MQTT BROKER · weg/braga/+/eventos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35040" y="3520440"/>
            <a:ext cx="0" cy="182880"/>
          </a:xfrm>
          <a:prstGeom prst="bentConnector3">
            <a:avLst/>
          </a:prstGeom>
          <a:ln w="190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480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SUPER SKILL IA · CAMADA DE NEGÓCIO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MQTT Bridge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Traduz WEG → domínio Braga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10712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10712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Worker Redis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0712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Persiste + dispara dashboard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44184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44184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PostgreSQL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44184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Histórico + OS + box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77656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77656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WebSocket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7656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Push ao vivo no dashboard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35040" y="4206240"/>
            <a:ext cx="0" cy="182880"/>
          </a:xfrm>
          <a:prstGeom prst="bentConnector3">
            <a:avLst/>
          </a:prstGeom>
          <a:ln w="190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657600" y="5943600"/>
            <a:ext cx="4846320" cy="4114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5943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34D399"/>
                </a:solidFill>
                <a:latin typeface="Calibri"/>
              </a:rPr>
              <a:t>TORRE DE CONTROLE · Next.js · Multi-dispositivo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80760" y="5806440"/>
            <a:ext cx="0" cy="137160"/>
          </a:xfrm>
          <a:prstGeom prst="bentConnector3">
            <a:avLst/>
          </a:prstGeom>
          <a:ln w="19050">
            <a:solidFill>
              <a:srgbClr val="34D3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COBERTURA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Onde cada câmera vai entrar — dimensionado para os 27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RAMOS FERREIRA  ·  Unidade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18 boxes  ·  10 mecânicos  ·  0 auxiliares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3312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3664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21992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4016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52344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44368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82696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1304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128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53312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91640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83664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21992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14016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52344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82696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7472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1304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61288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53312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1640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83664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21992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14016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52344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44368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82696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74720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13048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461772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c/ elevador (16)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4937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919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s/ elevador (2)</a:t>
            </a:r>
          </a:p>
        </p:txBody>
      </p:sp>
      <p:sp>
        <p:nvSpPr>
          <p:cNvPr id="49" name="Oval 48"/>
          <p:cNvSpPr/>
          <p:nvPr/>
        </p:nvSpPr>
        <p:spPr>
          <a:xfrm>
            <a:off x="914400" y="53309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Câmera RTSP zenital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0" y="246888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25786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22D3EE"/>
                </a:solidFill>
                <a:latin typeface="Calibri"/>
              </a:rPr>
              <a:t>CÂMERAS ESTRATÉGICAS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69080" y="29260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2926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de Peças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8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3383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+ Balanc.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69080" y="3840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3840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Panorâmica de pátio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4663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TOTAL DE CÂMERAS RTSP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4800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~22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A78BFA"/>
                </a:solidFill>
                <a:latin typeface="Calibri"/>
              </a:rPr>
              <a:t>DJALMA BATISTA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1965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9 boxes  ·  2 mecânicos  ·  2 auxiliares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1344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205472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543800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35824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74152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66176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04504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96528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34856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32688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66520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67512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01344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205472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543800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735824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074152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675120" y="461772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c/ elevador (3)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75120" y="4937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4919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s/ elevador (6)</a:t>
            </a:r>
          </a:p>
        </p:txBody>
      </p:sp>
      <p:sp>
        <p:nvSpPr>
          <p:cNvPr id="86" name="Oval 85"/>
          <p:cNvSpPr/>
          <p:nvPr/>
        </p:nvSpPr>
        <p:spPr>
          <a:xfrm>
            <a:off x="6766560" y="53309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944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Câmera RTSP zenital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784080" y="2468880"/>
            <a:ext cx="1554480" cy="2743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21240" y="2578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78BFA"/>
                </a:solidFill>
                <a:latin typeface="Calibri"/>
              </a:rPr>
              <a:t>CÂMERAS ESTRATÉGICAS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21240" y="29260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2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de Peças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2124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32720" y="33832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+ Balanc.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21240" y="3840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2720" y="3840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Panorâmica de pátio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21240" y="4663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TOTAL DE CÂMERAS RTSP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21240" y="4800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~13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BBF24"/>
                </a:solidFill>
                <a:latin typeface="Calibri"/>
              </a:rPr>
              <a:t>ÁREA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Boqueta de Peças — o gargalo declarado pela própria Braga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BBF24"/>
                </a:solidFill>
                <a:latin typeface="Calibri"/>
              </a:rPr>
              <a:t>▸ DO RELATÓRIO DA BRAGA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"Elo de ligação imediata entre o estoque central e a equipe produtiva nos boxes. Minimiza deslocamentos, reduz Down Time e maximiza horas faturadas por OS."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0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18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MECÂNICO CHEGA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WEG detecta entrada
e identifica quem está
aguardando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2627.5" y="3749040"/>
            <a:ext cx="228600.0" cy="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122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410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T0+5s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PEDIDO REGISTRADO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Sistema cruza com
OS aberta + peça
requisitada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1547.5" y="3749040"/>
            <a:ext cx="228600.0" cy="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014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9302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ATENDIMENTO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Tempo de preparação
medido em segundos
(KPI Boqueta)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0467.5" y="3749040"/>
            <a:ext cx="228600.0" cy="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9906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194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SAÍDA COM PEÇA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Mecânico sai →
volta ao box: fim do
Down Time medido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Calibri"/>
              </a:rPr>
              <a:t>RESULTADO MENSURÁVEL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Tempo médio no Boqueta · por unidade · por turno · por mecânico  ·  Down Time real por OS  ·  Onde investir para destravar a operação.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34D399"/>
                </a:solidFill>
                <a:latin typeface="Calibri"/>
              </a:rPr>
              <a:t>INDICADORES PRÓPRIOS DA BRAGA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 que hoje você não tem — e vai passar a ter ao vivo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INDICADOR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COM SUPER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54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554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BENEFÍCIO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Down Time médio por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≈ não medido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Em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0116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Reduz tempo de veículo parado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Tempo na Boqueta de Peças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≈ não medido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Em segundos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517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517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Destrava o gargalo declarado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918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Taxa de ocupação por 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91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Visual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% por turno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2918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Box c/ elev × s/ elev separados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HF reais × HF apuradas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9319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Apenas pela 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HF cruzada c/ presença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931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9319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Mecânico esteve no carro?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72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Fila nas máquinas críticas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5720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Ninguém vê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72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Veículos × minutos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5720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e balanceamento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12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Comparativo Ramos × Djalma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212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Planilha mensal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Tempo 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120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Diário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2120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Benchmarking interno objetivo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EXPERIÊNCIA DO GESTOR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Sua Torre de Controle — mockup Braga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07090D"/>
                </a:solidFill>
                <a:latin typeface="Calibri"/>
              </a:rPr>
              <a:t>CONSOLIDADO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RAMOS FERREIRA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DJALMA BATISTA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417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34D399"/>
                </a:solidFill>
                <a:latin typeface="Calibri"/>
              </a:rPr>
              <a:t>● AO VIVO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BOXES 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23 /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85% ocupação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DOWN TIME 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  <a:latin typeface="Calibri"/>
              </a:rPr>
              <a:t>1h 47m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-32% vs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BOQUETA — ESPERA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BBF24"/>
                </a:solidFill>
                <a:latin typeface="Calibri"/>
              </a:rPr>
              <a:t>2m 18s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Ramos Ferreira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HORAS FATURADAS HOJE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63 HF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meta diária 72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7315200" cy="26517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30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FEED AO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630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4D399"/>
                </a:solidFill>
                <a:latin typeface="Calibri"/>
              </a:rPr>
              <a:t>● IA ATIVA · WEG + 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23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João Silva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0233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0233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Troca de Óleo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02336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ABC1D23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233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Box 04 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434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4348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Carlos Mota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348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entrou 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4434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Boqueta de Peças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434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RF · 2m 18s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846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Maria Costa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846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846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Alinhamento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8463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XYZ9K88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846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Máq. 1 DJ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257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257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ALERTA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25780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25780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Box 7 ocioso 14min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2578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2578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Djalma B.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69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669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Pedro Alves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6692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concluiu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6692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Funilaria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56692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HCU2024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5669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Box 12 RF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01000" y="352044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79" y="3630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alibri"/>
              </a:rPr>
              <a:t>RAMOS × DJALMA · HOJE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3977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MÉTRICA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22D3EE"/>
                </a:solidFill>
                <a:latin typeface="Calibri"/>
              </a:rPr>
              <a:t>RAMOS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A78BFA"/>
                </a:solidFill>
                <a:latin typeface="Calibri"/>
              </a:rPr>
              <a:t>DJALMA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4297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Boxes ativos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16/18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7/9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79" y="4663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HF realizadas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44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19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83879" y="5029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Down Time médio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1h 32m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2h 18m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79" y="5394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(espera)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5394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2m 18s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0" y="5394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3m 47s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5760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Retrabalho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5760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1.4%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5760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3.1%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Calibri"/>
              </a:rPr>
              <a:t>VISÃO CRUZADA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 que muda quando Ramos e Djalma operam sob o mesmo radar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RAMOS FERREIRA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Unidade principal · alta densidade de elevadores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% com elevador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89%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Mecânicos / auxiliares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10 /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Razão box por mecânico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Câmeras RTSP propostas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~22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Concentração de produção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ALTA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46304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A78BFA"/>
                </a:solidFill>
                <a:latin typeface="Calibri"/>
              </a:rPr>
              <a:t>DJALMA BATISTA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9659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Operação leve · maior peso de auxiliares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68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26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% com elevador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33%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3832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Mecânicos / auxiliares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3832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2 /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Razão box por mecânico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40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4.5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Câmeras RTSP propostas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~13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754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Concentração de produção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54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DILUÍDA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INSIGHT: razão box/mecânico em Djalma é 2.5× maior — capacidade ociosa OU subdimensionamento?  A IA responde em tempo real.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PLANO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WEG Vision AI já existe → 5 semanas a menos no cronograma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INTEGRAÇÃO WEG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Sem.
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WEG Vision AI ativo
em Djalma + bridge MQTT
+ banco rodando.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6907.5" y="3337560.0"/>
            <a:ext cx="228600.0" cy="0.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7550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550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CAMADA DE NEGÓCIO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550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Sem.
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Módulos Boqueta,
Box, Equipamento ativos.
KPIs Braga em produção.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1547.5" y="3337560.0"/>
            <a:ext cx="228600.0" cy="0.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014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874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Calibri"/>
              </a:rPr>
              <a:t>Sem.
5-6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02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Torre de Controle
entregue. Validação
com gestor Djalma.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6187.5" y="3337560.0"/>
            <a:ext cx="228600.0" cy="0.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478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338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78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ROLLOUT RAMOS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478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  <a:latin typeface="Calibri"/>
              </a:rPr>
              <a:t>Sem.
7-9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766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Replicação completa
em Ramos Ferreira.
Comparativo cruzado 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300">
                <a:solidFill>
                  <a:srgbClr val="34D399"/>
                </a:solidFill>
                <a:latin typeface="Calibri"/>
              </a:rPr>
              <a:t>9 SEMANAS PARA OPERAÇÃO COMPLETA  ·  PILOTO VALIDADO EM 6 SEMANAS  ·  RISCO TÉCNICO COMPARTILHADO COM A WEG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POR QUE ESTA ARQUITETURA GANHA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4 razões objetivas — em linguagem de gestor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22D3EE"/>
                </a:solidFill>
                <a:latin typeface="Calibri"/>
              </a:rPr>
              <a:t>RISCO DIVIDIDO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4688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 inferência de visão fica com a WEG — uma marca
industrial consolidada. O risco de modelo cai para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A78BFA"/>
                </a:solidFill>
                <a:latin typeface="Calibri"/>
              </a:rPr>
              <a:t>TIME-TO-VALUE EM 6 SEMANAS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688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Em vez de 11 semanas treinando modelos, validamos
o produto na Djalma em 6 semanas.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4D399"/>
                </a:solidFill>
                <a:latin typeface="Calibri"/>
              </a:rPr>
              <a:t>DADOS FICAM NA BRAGA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663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Edge local em cada unidade. Funciona com internet
instável. Nenhum frame de câmera sai do prédio.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4160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BBF24"/>
                </a:solidFill>
                <a:latin typeface="Calibri"/>
              </a:rPr>
              <a:t>INVESTIMENTO ESCALÁVEL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663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Comece pela Djalma (9 boxes). Se gerar resultado,
replicamos em Ramos. Decisão por dado, não por fé.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 ·  PROPOSTA EXCLUSIVA BRAGA VEÍCULOS  ·  CONFIDENCIAL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22D3EE"/>
                </a:solidFill>
                <a:latin typeface="Calibri"/>
              </a:rPr>
              <a:t>PRÓXIMO PASSO · BRAGA VEÍCULOS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5E7EB"/>
                </a:solidFill>
                <a:latin typeface="Calibri"/>
              </a:rPr>
              <a:t>Vamos transformar os seus 27 boxes
no maior diferencial competitivo do mercado.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94510"/>
            <a:ext cx="2194560" cy="240029"/>
          </a:xfrm>
          <a:prstGeom prst="roundRect">
            <a:avLst>
              <a:gd name="adj" fmla="val 3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41180" y="1520190"/>
            <a:ext cx="1234440" cy="342900"/>
          </a:xfrm>
          <a:prstGeom prst="roundRect">
            <a:avLst>
              <a:gd name="adj" fmla="val 4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823960.0" y="2068830.0"/>
            <a:ext cx="2468880.0" cy="0.0"/>
          </a:xfrm>
          <a:prstGeom prst="line">
            <a:avLst/>
          </a:prstGeom>
          <a:ln w="6350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32570" y="1931670"/>
            <a:ext cx="219456" cy="219456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64774" y="1931670"/>
            <a:ext cx="219456" cy="219456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O QUE VOCÊ RECEBE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Cobertura completa: 27 boxes em 2 unidades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050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~35 câmeras RTSP via WEG Vision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525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Bridge MQTT + módulos exclusivos Braga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001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0001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Boqueta de Peças instrumentada (Down 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47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Dashboard com toggle Ramos × Djalma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94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Roadmap de 9 semanas (piloto em 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WORKSHOP DE
DESCOBERTA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1 dia em
Ramos Ferreira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0999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PILOTO
DJALMA BATISTA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Fases 1–3
em 6 semanas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78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58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58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ROLLOUT
RAMOS FERREIRA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58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Sistema completo
em 9 semanas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989320"/>
            <a:ext cx="1078992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300">
                <a:solidFill>
                  <a:srgbClr val="07090D"/>
                </a:solidFill>
                <a:latin typeface="Calibri"/>
              </a:rPr>
              <a:t>VAMOS AGENDAR A DESCOBERTA NA BRAGA VEÍCULOS?  →  CONTRATAR &amp; COMEÇAR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629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+ WEG Vision AI · Proposta confidencial dirigida à Braga Veículos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