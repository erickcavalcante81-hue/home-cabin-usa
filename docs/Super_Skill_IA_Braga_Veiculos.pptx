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PROPOSTA EXECUTIVA EXCLUSIVA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BD5E1"/>
                </a:solidFill>
                <a:latin typeface="Calibri"/>
              </a:rPr>
              <a:t>Para Braga Veículos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E5E7EB"/>
                </a:solidFill>
                <a:latin typeface="Calibri"/>
              </a:rPr>
              <a:t>Super Skill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22D3EE"/>
                </a:solidFill>
                <a:latin typeface="Calibri"/>
              </a:rPr>
              <a:t>Gêmeo digital dos seus 27 boxes, ao vivo.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  <a:latin typeface="Calibri"/>
              </a:rPr>
              <a:t>Visão Computacional sobre as 2 unidades (Ramos Ferreira + Djalma Batista),
com módulo dedicado ao Boqueta de Peças e medição real de Down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4924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5896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Calibri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Calibri"/>
              </a:rPr>
              <a:t>BOXES MONITORADOS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534924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545896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libri"/>
              </a:rPr>
              <a:t>~35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989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Calibri"/>
              </a:rPr>
              <a:t>CÂMERAS 4K (2 UNIDADES)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534924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545896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Calibri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989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Calibri"/>
              </a:rPr>
              <a:t>PRODUTIVOS RASTREADOS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534924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545896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989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Calibri"/>
              </a:rPr>
              <a:t>BOQUETA INTELIGENTE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1783080"/>
            <a:ext cx="1554480" cy="34747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920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BRAGA VEÍCULOS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2402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Ramos Ferreira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5146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18 boxes · 10 mec.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971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Djalma Batista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2461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9 boxes · 4 prod.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38404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D3EE"/>
                </a:solidFill>
                <a:latin typeface="Calibri"/>
              </a:rPr>
              <a:t>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41605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● PRONTO PARA
PRODUZIR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Sua operação hoje — o que o relatório nos mostrou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22D3EE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9CA3AF"/>
                </a:solidFill>
                <a:latin typeface="Calibri"/>
              </a:rPr>
              <a:t>BOXES OPERACIONAIS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22D3EE"/>
                </a:solidFill>
                <a:latin typeface="Calibri"/>
              </a:rPr>
              <a:t>12 + 2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48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9CA3AF"/>
                </a:solidFill>
                <a:latin typeface="Calibri"/>
              </a:rPr>
              <a:t>MECÂNICOS + AUXILIARES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5087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22D3EE"/>
                </a:solidFill>
                <a:latin typeface="Calibri"/>
              </a:rPr>
              <a:t>2 + 2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48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9CA3AF"/>
                </a:solidFill>
                <a:latin typeface="Calibri"/>
              </a:rPr>
              <a:t>ALINHAMENTO + BALANCEAMENTO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DISTRIBUIÇÃO POR UNIDADE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UNIDADE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918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Calibri"/>
              </a:rPr>
              <a:t>BOX C/ ELEVADOR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2918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Calibri"/>
              </a:rPr>
              <a:t>BOX S/ ELEVADOR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2918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Calibri"/>
              </a:rPr>
              <a:t>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2918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Calibri"/>
              </a:rPr>
              <a:t>MECÂNICOS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32918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Calibri"/>
              </a:rPr>
              <a:t>AUXILIARES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4904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Ramos Ferreira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74904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74904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74904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Calibri"/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74904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74904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4340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34340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Djalma Batista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34340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34340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434340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34340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434340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3776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377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TOTAL CONSOLIDADO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93776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93776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493776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93776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493776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Fonte: Relatório Consolidado de Infraestrutura Braga Veículos.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ONDE ESTÁ DOENDO DE VERDADE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4 gargalos invisíveis na sua operação hoje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87171"/>
                </a:solidFill>
                <a:latin typeface="Calibri"/>
              </a:rP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1783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Calibri"/>
              </a:rPr>
              <a:t>DOWN TIME INVISÍVEL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219456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Você sabe quanto tempo cada veículo fica parado em cada box.
Mas não sabe POR QUE ele ficou parado — peça, mecânico, fila?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54680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87171"/>
                </a:solidFill>
                <a:latin typeface="Calibri"/>
              </a:rPr>
              <a:t>▸ Cada hora perdida = HF não faturada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82880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  <a:latin typeface="Calibri"/>
              </a:rPr>
              <a:t>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783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BOQUETA DE PEÇAS SEM MÉTRICA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19456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O elo mais crítico da operação — e o único sem dado objetivo.
Mecânico vai, espera, volta. Quanto tempo? Ninguém mede.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154680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54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Calibri"/>
              </a:rPr>
              <a:t>▸ Área declarada como estratégica no relatório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947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0690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libri"/>
              </a:rPr>
              <a:t>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0233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DESBALANCEAMENTO ENTRE UNIDADES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443484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Ramos Ferreira: 18 boxes, 10 mecânicos.
Djalma Batista: 9 boxes, 4 produtivos. Mesma produtividade real?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394960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  <a:latin typeface="Calibri"/>
              </a:rPr>
              <a:t>▸ Sem comparativo objetivo entre as duas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947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40690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6908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Calibri"/>
              </a:rPr>
              <a:t>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0233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MÁQUINAS GARGALO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43484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Só 2 alinhamentos e 2 balanceamentos. Qual a fila real?
Quantos veículos esperaram, quantos minutos, por dia?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5394960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394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▸ Recurso escasso, sem fila instrumentada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Três camadas dimensionadas para os seus 27 boxes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Cada veículo recebe um QR Code A4 no teto. Cada mecânico é identificado pela cor/marcador no uniforme.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A IA cruza tudo e responde, em segundos: O QUÊ, ONDE, QUEM e QUANTO TEMPO.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697480"/>
            <a:ext cx="822960" cy="822960"/>
          </a:xfrm>
          <a:prstGeom prst="ellipse">
            <a:avLst/>
          </a:prstGeom>
          <a:solidFill>
            <a:srgbClr val="141A23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Calibri"/>
              </a:rPr>
              <a:t>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743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CAMADA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971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Calibri"/>
              </a:rPr>
              <a:t>Olhos (Borda)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~22 câmeras 4K em Ramos Ferreira + ~13 em Djalma Batista.
Processamento local, edge computing nas unidades.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▸ 1 câmera dedicada ao Boqueta (cada unidade)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▸ Câmeras zenitais lendo QR Code dos veículos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46888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0" y="2697480"/>
            <a:ext cx="822960" cy="822960"/>
          </a:xfrm>
          <a:prstGeom prst="ellipse">
            <a:avLst/>
          </a:prstGeom>
          <a:solidFill>
            <a:srgbClr val="141A23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6974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libri"/>
              </a:rPr>
              <a:t>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743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CAMADA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971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Calibri"/>
              </a:rPr>
              <a:t>Cérebro (IA)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7033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Detectores customizados para a realidade Braga:
BoxOccupancy, BoquetaFlow, EquipmentQueue, OSAttribution.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37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▸ Mede tempo no Boqueta em segundos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035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▸ Cruza presença com OS para HF real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46888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0" y="2697480"/>
            <a:ext cx="822960" cy="822960"/>
          </a:xfrm>
          <a:prstGeom prst="ellipse">
            <a:avLst/>
          </a:prstGeom>
          <a:solidFill>
            <a:srgbClr val="141A23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6974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Calibri"/>
              </a:rPr>
              <a:t>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743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Calibri"/>
              </a:rPr>
              <a:t>CAMADA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9718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5E7EB"/>
                </a:solidFill>
                <a:latin typeface="Calibri"/>
              </a:rPr>
              <a:t>Torre (Gestor)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7033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Painel ao vivo com toggle Ramos × Djalma, comparativo
cruzado em uma só tela. Acessível de qualquer dispositivo.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937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▸ Alertas: box ocioso, fila no alinhamento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3035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▸ Heatmap de produtividade por mecânico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COBERTURA FÍSICA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Onde cada câmera vai entrar — desenhado para a Braga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Calibri"/>
              </a:rPr>
              <a:t>RAMOS FERREIRA  ·  Unidade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18 boxes  ·  10 mecânicos  ·  0 auxiliares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53312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91640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83664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21992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14016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52344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44368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82696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0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13048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1288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53312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91640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83664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21992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14016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52344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44368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82696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74720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13048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61288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53312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91640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83664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221992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414016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752344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944368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282696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74720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13048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60" y="461772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4599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Box c/ elevador (16)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493776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4919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Box s/ elevador (2)</a:t>
            </a:r>
          </a:p>
        </p:txBody>
      </p:sp>
      <p:sp>
        <p:nvSpPr>
          <p:cNvPr id="49" name="Oval 48"/>
          <p:cNvSpPr/>
          <p:nvPr/>
        </p:nvSpPr>
        <p:spPr>
          <a:xfrm>
            <a:off x="914400" y="533095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5276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Câmera zenital por box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31920" y="246888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80" y="25786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CÂMERAS ESTRATÉGICAS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69080" y="29260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29260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Boqueta de Peças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69080" y="33832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33832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Alinhamento + Balanc.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069080" y="38404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3840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Panorâmica de pátio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80" y="4663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Calibri"/>
              </a:rPr>
              <a:t>TOTAL DE CÂMERAS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9080" y="48006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  <a:latin typeface="Calibri"/>
              </a:rPr>
              <a:t>~22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1463040"/>
            <a:ext cx="5212080" cy="47548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16002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Calibri"/>
              </a:rPr>
              <a:t>DJALMA BATISTA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19659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9 boxes  ·  2 mecânicos  ·  2 auxiliares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75120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13448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205472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543800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735824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074152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266176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604504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796528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34856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326880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665208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675120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013448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205472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543800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735824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074152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675120" y="461772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49440" y="4599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Box c/ elevador (3)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675120" y="493776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9440" y="4919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Box s/ elevador (6)</a:t>
            </a:r>
          </a:p>
        </p:txBody>
      </p:sp>
      <p:sp>
        <p:nvSpPr>
          <p:cNvPr id="86" name="Oval 85"/>
          <p:cNvSpPr/>
          <p:nvPr/>
        </p:nvSpPr>
        <p:spPr>
          <a:xfrm>
            <a:off x="6766560" y="533095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49440" y="5276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Câmera zenital por box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784080" y="2468880"/>
            <a:ext cx="1554480" cy="27432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21240" y="25786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CÂMERAS ESTRATÉGICAS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921240" y="29260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32720" y="2926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Boqueta de Peças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921240" y="33832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32720" y="33832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Alinhamento + Balanc.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921240" y="38404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32720" y="38404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Panorâmica de pátio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21240" y="4663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9CA3AF"/>
                </a:solidFill>
                <a:latin typeface="Calibri"/>
              </a:rPr>
              <a:t>TOTAL DE CÂMERAS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21240" y="48006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Calibri"/>
              </a:rPr>
              <a:t>~13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ÁREA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Boqueta de Peças — o gargalo que vamos iluminar primeiro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▸ DO RELATÓRIO DA BRAGA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BD5E1"/>
                </a:solidFill>
                <a:latin typeface="Calibri"/>
              </a:rPr>
              <a:t>"Este ponto de contato serve como o elo de ligação imediata entre o estoque central e a equipe produtiva nos boxes. Minimizando deslocamentos, reduzindo Down Time e maximizando horas faturadas por OS."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07" y="27432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5187" y="2880360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090D"/>
                </a:solidFill>
              </a:rPr>
              <a:t>T0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MECÂNICO CHEGA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467" y="37490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Câmera detecta
entrada e identifica
quem está esperando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92627.5" y="3749040"/>
            <a:ext cx="228600.0" cy="0"/>
          </a:xfrm>
          <a:prstGeom prst="bentConnector3">
            <a:avLst/>
          </a:prstGeom>
          <a:ln w="2540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21227" y="27432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04107" y="2880360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090D"/>
                </a:solidFill>
              </a:rPr>
              <a:t>T0+5s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1227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  <a:latin typeface="Calibri"/>
              </a:rPr>
              <a:t>PEDIDO REGISTRADO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8387" y="37490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Sistema cruza com
OS aberta + peça
requisitada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1547.5" y="3749040"/>
            <a:ext cx="228600.0" cy="0"/>
          </a:xfrm>
          <a:prstGeom prst="bentConnector3">
            <a:avLst/>
          </a:prstGeom>
          <a:ln w="25400">
            <a:solidFill>
              <a:srgbClr val="A78BF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0147" y="27432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93027" y="2880360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090D"/>
                </a:solidFill>
              </a:rPr>
              <a:t>T1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Calibri"/>
              </a:rPr>
              <a:t>ATENDIMENTO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37490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Tempo de
preparação medido
automaticamente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0467.5" y="3749040"/>
            <a:ext cx="228600.0" cy="0"/>
          </a:xfrm>
          <a:prstGeom prst="bentConnector3">
            <a:avLst/>
          </a:prstGeom>
          <a:ln w="2540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99067" y="27432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1947" y="2880360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090D"/>
                </a:solidFill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9067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SAÍDA COM PEÇA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6227" y="37490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Mecânico sai com
peça → volta ao
box: Down Time fim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RESULTADO MENSURÁVEL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Você passa a saber: tempo médio de atendimento no Boqueta por unidade, por turno, por mecânico  ·  Down Time real por OS  ·  Onde investir para destravar a operação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COMO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Da câmera ao seu celular em menos de 2 segundos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4583" y="1828800"/>
            <a:ext cx="2011680" cy="18288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1743" y="1965960"/>
            <a:ext cx="45720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583" y="23317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CÂMERAS 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023" y="288036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QR no teto +
uniformes coloridos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6263.5" y="2743200.0"/>
            <a:ext cx="256032.0" cy="0.0"/>
          </a:xfrm>
          <a:prstGeom prst="bentConnector3">
            <a:avLst/>
          </a:prstGeom>
          <a:ln w="3175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22295" y="1828800"/>
            <a:ext cx="2011680" cy="18288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59455" y="1965960"/>
            <a:ext cx="45720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7090D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2295" y="23317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  <a:latin typeface="Calibri"/>
              </a:rPr>
              <a:t>AI ENGINE
(EDGE LOCAL)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3735" y="288036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Detecta carros,
pessoas e ações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33975.5" y="2743200.0"/>
            <a:ext cx="256032.0" cy="0.0"/>
          </a:xfrm>
          <a:prstGeom prst="bentConnector3">
            <a:avLst/>
          </a:prstGeom>
          <a:ln w="31750">
            <a:solidFill>
              <a:srgbClr val="A78BF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90007" y="1828800"/>
            <a:ext cx="2011680" cy="18288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7167" y="1965960"/>
            <a:ext cx="45720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7090D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0007" y="23317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Calibri"/>
              </a:rPr>
              <a:t>FILA 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1447" y="288036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Eventos em
tempo real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01687.5" y="2743200.0"/>
            <a:ext cx="256032.0" cy="0.0"/>
          </a:xfrm>
          <a:prstGeom prst="bentConnector3">
            <a:avLst/>
          </a:prstGeom>
          <a:ln w="3175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57719" y="1828800"/>
            <a:ext cx="2011680" cy="18288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4879" y="1965960"/>
            <a:ext cx="4572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7090D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7719" y="23317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9159" y="288036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Persiste e
computa KPIs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69399.5" y="2743200.0"/>
            <a:ext cx="256032.0" cy="0.0"/>
          </a:xfrm>
          <a:prstGeom prst="bentConnector3">
            <a:avLst/>
          </a:prstGeom>
          <a:ln w="31750">
            <a:solidFill>
              <a:srgbClr val="34D39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25431" y="1828800"/>
            <a:ext cx="2011680" cy="18288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62591" y="1965960"/>
            <a:ext cx="45720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7090D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5431" y="23317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6871" y="288036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Você enxerga
tudo, ao vivo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EXEMPLOS DE EVENTOS QUE A IA VAI GERAR NA SUA OFICINA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52628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5262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alibri"/>
              </a:rPr>
              <a:t>"João iniciou Troca de Óleo no veículo ABC1D23 — Box 04 c/ elevador — Ramos Ferreira"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98348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9834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  <a:latin typeface="Calibri"/>
              </a:rPr>
              <a:t>"Carlos entrou no Boqueta de Peças — aguardando 2min 47s — Ramos Ferreira"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44068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4406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Calibri"/>
              </a:rPr>
              <a:t>"Fila no alinhamento: 3 veículos · tempo médio 18min — Djalma Batista"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9788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Calibri"/>
              </a:rPr>
              <a:t>"ALERTA: Box 7 ocioso há 14min — Djalma Batista"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Cada unidade processa localmente. Torre única, multi-loja.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EDGE · RAMOS FERREIRA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Servidor local + ai-engine
18 boxes monitorados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23160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9125" y="2423160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6731" y="2423160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4337" y="2423160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81942" y="2423160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19548" y="2423160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57154" y="2423160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94760" y="2423160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D3EE"/>
                </a:solidFill>
                <a:latin typeface="Calibri"/>
              </a:rPr>
              <a:t>~22 CÂMERAS 4K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184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EDGE · DJALMA BATISTA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490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Servidor local + ai-engine
9 boxes monitorados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16052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9125" y="416052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6731" y="416052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44337" y="416052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81942" y="416052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19548" y="416052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357154" y="416052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94760" y="416052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  <a:latin typeface="Calibri"/>
              </a:rPr>
              <a:t>~13 CÂMERAS 4K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2286000"/>
            <a:ext cx="320040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Calibri"/>
              </a:rPr>
              <a:t>CÉREBRO CENTRAL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2834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FastAPI + Redis + PostgreSQL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24612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Consolida eventos das 2 unidades
Calcula KPIs cruzados
Guarda histórico operacional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2286000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468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TORRE DE CONTROLE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Next.js + WebSocket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24612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Toggle Ramos × Djalma
KPIs em tempo real
Acesso desktop/mobile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06240" y="2331720"/>
            <a:ext cx="731520" cy="411480"/>
          </a:xfrm>
          <a:prstGeom prst="bentConnector3">
            <a:avLst/>
          </a:prstGeom>
          <a:ln w="2540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206240" y="3657600"/>
            <a:ext cx="731520" cy="411480"/>
          </a:xfrm>
          <a:prstGeom prst="bentConnector3">
            <a:avLst/>
          </a:prstGeom>
          <a:ln w="25400">
            <a:solidFill>
              <a:srgbClr val="A78BF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38160" y="3337560"/>
            <a:ext cx="731520" cy="0"/>
          </a:xfrm>
          <a:prstGeom prst="bentConnector3">
            <a:avLst/>
          </a:prstGeom>
          <a:ln w="3175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POR QUE EDGE LOCAL?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Dados ficam na Braga · Funciona mesmo com internet instável · Latência &lt; 2s · Cada unidade pode operar independente · Escala para novas lojas no futuro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INDICADORES PRÓPRIOS DA BRAGA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Métricas que hoje você não tem — e vai passar a ter ao vivo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INDICADOR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9CA3AF"/>
                </a:solidFill>
                <a:latin typeface="Calibri"/>
              </a:rPr>
              <a:t>HOJE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9CA3AF"/>
                </a:solidFill>
                <a:latin typeface="Calibri"/>
              </a:rPr>
              <a:t>COM SUPER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5544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9CA3AF"/>
                </a:solidFill>
                <a:latin typeface="Calibri"/>
              </a:rPr>
              <a:t>META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5544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BENEFÍCIO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Down Time médio por 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≈ não medido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Em segundos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0116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-40%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0116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Reduz tempo de veículo parado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5176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517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Tempo no Boqueta de Peças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65176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≈ não medido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517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Em segundos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6517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-60%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6517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Destrava o gargalo declarado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9184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918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Taxa de ocupação por 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2918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Visual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918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% por turno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2918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+30%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2918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Box c/ elev × s/ elev separados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319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Horas Faturadas reais × apuradas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93192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Apenas 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931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HF cruzada com presença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9319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+20%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9319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Mecânico esteve no carro?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57200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5720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Fila nas máquinas críticas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5720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Ninguém vê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5720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87171"/>
                </a:solidFill>
                <a:latin typeface="Calibri"/>
              </a:rPr>
              <a:t>Veículos × minutos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572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-50%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45720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Alinhamento e balanceamento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21208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212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Comparativo Ramos × Djalma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2120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Planilha mensal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2120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Tempo real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2120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Diário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52120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Benchmarking interno objetivo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EXPERIÊNCIA DO GESTOR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Sua Torre de Controle — mockup Braga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22D3E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7090D"/>
                </a:solidFill>
                <a:latin typeface="Calibri"/>
              </a:rPr>
              <a:t>CONSOLIDADO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41732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417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9CA3AF"/>
                </a:solidFill>
                <a:latin typeface="Calibri"/>
              </a:rPr>
              <a:t>RAMOS FERREIRA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41732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417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9CA3AF"/>
                </a:solidFill>
                <a:latin typeface="Calibri"/>
              </a:rPr>
              <a:t>DJALMA BATISTA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4173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34D399"/>
                </a:solidFill>
                <a:latin typeface="Calibri"/>
              </a:rPr>
              <a:t>● AO VIVO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alibri"/>
              </a:rPr>
              <a:t>BOXES ATIVOS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957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Calibri"/>
              </a:rPr>
              <a:t>23 / 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85% ocupação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011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alibri"/>
              </a:rPr>
              <a:t>DOWN TIME MÉDIO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957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4D399"/>
                </a:solidFill>
                <a:latin typeface="Calibri"/>
              </a:rPr>
              <a:t>1h 47m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-32% vs 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011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alibri"/>
              </a:rPr>
              <a:t>BOQUETA — ESPERA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957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BBF24"/>
                </a:solidFill>
                <a:latin typeface="Calibri"/>
              </a:rPr>
              <a:t>2m 18s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Ramos Ferreira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011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alibri"/>
              </a:rPr>
              <a:t>HORAS FATURADAS HOJE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3957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A78BFA"/>
                </a:solidFill>
                <a:latin typeface="Calibri"/>
              </a:rPr>
              <a:t>63 HF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meta diária 72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20440"/>
            <a:ext cx="7315200" cy="26517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6301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FEED AO VIVO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630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34D399"/>
                </a:solidFill>
                <a:latin typeface="Calibri"/>
              </a:rPr>
              <a:t>● IA 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0233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023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João Silva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02336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iniciou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402336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Troca de Óleo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402336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ABC1D23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0233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Box 04 RF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434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4348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Carlos Mota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43484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entrou 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4760" y="4434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Boqueta de Peças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443484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434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RF · 2m 18s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4846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Maria Costa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8463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iniciou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4760" y="48463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Alinhamento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484632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XYZ9K88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846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Máq. 1 DJ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257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5257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ALERTA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525780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25780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Box 7 ocioso 14min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525780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52578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Djalma B.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669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5669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Pedro Alves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7520" y="566928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concluiu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566928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Funilaria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60" y="56692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HCU2024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56692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Box 12 RF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01000" y="3520440"/>
            <a:ext cx="3611880" cy="26517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83879" y="3630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RAMOS × DJALMA  ·  HOJE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83879" y="3977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Calibri"/>
              </a:rPr>
              <a:t>MÉTRICA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0" y="3977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22D3EE"/>
                </a:solidFill>
                <a:latin typeface="Calibri"/>
              </a:rPr>
              <a:t>RAMOS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3977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DJALMA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83879" y="42976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Boxes ativos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92640" y="42976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16/18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98480" y="42976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7/9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83879" y="4663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HF realizadas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4663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44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4663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19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83879" y="50292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Down Time médio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40" y="5029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1h 32m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98480" y="5029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2h 18m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83879" y="5394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Boqueta (espera)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92640" y="53949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2m 18s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98480" y="53949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3m 47s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83879" y="57607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Retrabalho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92640" y="5760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87171"/>
                </a:solidFill>
                <a:latin typeface="Calibri"/>
              </a:rPr>
              <a:t>1.4%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8480" y="5760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87171"/>
                </a:solidFill>
                <a:latin typeface="Calibri"/>
              </a:rPr>
              <a:t>3.1%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VISÃO CRUZADA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O que muda quando Ramos e Djalma operam sob o mesmo radar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577840" cy="42062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Calibri"/>
              </a:rPr>
              <a:t>RAMOS FERREIRA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Unidade principal · alta densidade de elevadores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Boxes operacionais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834640"/>
            <a:ext cx="4846320" cy="6350"/>
          </a:xfrm>
          <a:prstGeom prst="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% com elevador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89%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291840"/>
            <a:ext cx="4846320" cy="6350"/>
          </a:xfrm>
          <a:prstGeom prst="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Mecânicos / auxiliares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10 /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49040"/>
            <a:ext cx="4846320" cy="6350"/>
          </a:xfrm>
          <a:prstGeom prst="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Razão box por mecânico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1.8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206240"/>
            <a:ext cx="4846320" cy="6350"/>
          </a:xfrm>
          <a:prstGeom prst="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Câmeras propostas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~22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663440"/>
            <a:ext cx="4846320" cy="6350"/>
          </a:xfrm>
          <a:prstGeom prst="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Concentração de produção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ALTA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120640"/>
            <a:ext cx="4846320" cy="6350"/>
          </a:xfrm>
          <a:prstGeom prst="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9360" y="1463040"/>
            <a:ext cx="5349240" cy="42062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60020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Calibri"/>
              </a:rPr>
              <a:t>DJALMA BATISTA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196596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Operação mais leve · maior peso de auxiliares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468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Boxes operacionais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468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834640"/>
            <a:ext cx="4617720" cy="6350"/>
          </a:xfrm>
          <a:prstGeom prst="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9260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% com elevador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9260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33%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3291840"/>
            <a:ext cx="4617720" cy="6350"/>
          </a:xfrm>
          <a:prstGeom prst="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3832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Mecânicos / auxiliares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3832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2 / 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3749040"/>
            <a:ext cx="4617720" cy="6350"/>
          </a:xfrm>
          <a:prstGeom prst="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8404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Razão box por mecânico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8404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4.5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4206240"/>
            <a:ext cx="4617720" cy="6350"/>
          </a:xfrm>
          <a:prstGeom prst="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2976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Câmeras propostas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2976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~13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4663440"/>
            <a:ext cx="4617720" cy="6350"/>
          </a:xfrm>
          <a:prstGeom prst="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754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Concentração de produção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754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DILUÍDA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5120640"/>
            <a:ext cx="4617720" cy="6350"/>
          </a:xfrm>
          <a:prstGeom prst="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INSIGHT: razão box/mecânico em Djalma é 2.5× maior — é capacidade ociosa OU subdimensionamento?  A IA responde em tempo real.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PLANO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Piloto na unidade menor, rollout na principal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867" y="16459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9467" y="18745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867" y="23774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5E7EB"/>
                </a:solidFill>
                <a:latin typeface="Calibri"/>
              </a:rPr>
              <a:t>INFRA +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67" y="2926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  <a:latin typeface="Calibri"/>
              </a:rPr>
              <a:t>Sem.
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38404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Servidor edge na Djalma
Batista + backend central.
Banco e API funcionando.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46907.5" y="3337560.0"/>
            <a:ext cx="228600.0" cy="0.0"/>
          </a:xfrm>
          <a:prstGeom prst="bentConnector3">
            <a:avLst/>
          </a:prstGeom>
          <a:ln w="2540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75507" y="16459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4107" y="18745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5507" y="23774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5E7EB"/>
                </a:solidFill>
                <a:latin typeface="Calibri"/>
              </a:rPr>
              <a:t>IA + 9 BOXES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5507" y="2926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Calibri"/>
              </a:rPr>
              <a:t>Sem.
3-5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8387" y="38404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Detectores ativos.
Djalma 100% instrumentada.
Boqueta de Peças online.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1547.5" y="3337560.0"/>
            <a:ext cx="228600.0" cy="0.0"/>
          </a:xfrm>
          <a:prstGeom prst="bentConnector3">
            <a:avLst/>
          </a:prstGeom>
          <a:ln w="25400">
            <a:solidFill>
              <a:srgbClr val="A78BF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0147" y="16459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8747" y="18745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23774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5E7EB"/>
                </a:solidFill>
                <a:latin typeface="Calibri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2926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BBF24"/>
                </a:solidFill>
                <a:latin typeface="Calibri"/>
              </a:rPr>
              <a:t>Sem.
6-7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3027" y="38404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Torre de Controle entregue.
KPIs ao vivo da unidade-piloto.
Validação com gestor.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16187.5" y="3337560.0"/>
            <a:ext cx="228600.0" cy="0.0"/>
          </a:xfrm>
          <a:prstGeom prst="bentConnector3">
            <a:avLst/>
          </a:prstGeom>
          <a:ln w="2540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44787" y="16459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3387" y="18745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4787" y="23774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5E7EB"/>
                </a:solidFill>
                <a:latin typeface="Calibri"/>
              </a:rPr>
              <a:t>ROLLOUT RAMOS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4787" y="2926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4D399"/>
                </a:solidFill>
                <a:latin typeface="Calibri"/>
              </a:rPr>
              <a:t>Sem.
8-11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7667" y="38404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Replicação dos 22 câmeras
em Ramos Ferreira.
Comparativo cruzado ativo.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POR QUE COMEÇAR PELA DJALMA?  ·  9 boxes = ciclo de validação 2× mais rápido  ·  Aprendizado de campo antes de tocar na unidade-mãe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PRÓXIMO PASSO  ·  BRAGA VEÍCULOS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5E7EB"/>
                </a:solidFill>
                <a:latin typeface="Calibri"/>
              </a:rPr>
              <a:t>Vamos transformar os seus 27 boxes
no maior diferencial competitivo do mercado.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029200" cy="2743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O QUE VOCÊ RECEBE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Cobertura completa: 27 boxes em 2 unidades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0507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050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~35 câmeras 4K dimensionadas item a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5254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5254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Módulo exclusivo para o Boqueta de Peças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001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0001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Dashboard ao vivo com toggle Ramos × Djalma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47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474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Edge local — dados ficam na Braga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94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Roadmap de 11 semanas (piloto em 7)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108960"/>
            <a:ext cx="1874519" cy="2743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291840"/>
            <a:ext cx="1508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977640"/>
            <a:ext cx="150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WORKSHOP DE
DESCOBERTA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892040"/>
            <a:ext cx="15087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1 dia em
Ramos Ferreira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0999" y="3108960"/>
            <a:ext cx="1874519" cy="2743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3291840"/>
            <a:ext cx="1508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3977640"/>
            <a:ext cx="150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PILOTO
DJALMA BATISTA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892040"/>
            <a:ext cx="15087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Entrega Fase 1+2+3
em 7 semanas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2678" y="3108960"/>
            <a:ext cx="1874519" cy="2743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58" y="3291840"/>
            <a:ext cx="1508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4D399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58" y="3977640"/>
            <a:ext cx="150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ROLLOUT
RAMOS FERREIRA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58" y="4892040"/>
            <a:ext cx="15087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Sistema completo
em ~11 semanas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989320"/>
            <a:ext cx="10789920" cy="548640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9893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7090D"/>
                </a:solidFill>
                <a:latin typeface="Calibri"/>
              </a:rPr>
              <a:t>VAMOS AGENDAR A DESCOBERTA NA BRAGA VEÍCULOS?  →  CONTRATAR &amp; COMEÇAR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629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Super Skill IA  ·  Proposta confidencial dirigida à Braga Veículos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