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PROPOSTA EXECUTIVA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E5E7EB"/>
                </a:solidFill>
                <a:latin typeface="Calibri"/>
              </a:rPr>
              <a:t>Super Skill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Calibri"/>
              </a:rPr>
              <a:t>O Gêmeo Digital da sua oficina, em tempo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Calibri"/>
              </a:rPr>
              <a:t>Visão Computacional + IA transformando 14 câmeras 4K em uma
Torre de Controle que enxerga 100% do pátio, 24/7.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96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34D399"/>
                </a:solidFill>
                <a:latin typeface="Calibri"/>
              </a:rPr>
              <a:t>20% →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Calibri"/>
              </a:rPr>
              <a:t>VISIBILIDADE DO PÁTIO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864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5596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BBF24"/>
                </a:solidFill>
                <a:latin typeface="Calibri"/>
              </a:rPr>
              <a:t>-80%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6126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Calibri"/>
              </a:rPr>
              <a:t>RETRABALHO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4864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5596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87171"/>
                </a:solidFill>
                <a:latin typeface="Calibri"/>
              </a:rPr>
              <a:t>-75%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6126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Calibri"/>
              </a:rPr>
              <a:t>DESPERDÍCIO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4864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5596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Calibri"/>
              </a:rPr>
              <a:t>14 CAM 4K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6126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Calibri"/>
              </a:rPr>
              <a:t>COBERTURA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554480"/>
            <a:ext cx="1463040" cy="3749039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691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2D3EE"/>
                </a:solidFill>
                <a:latin typeface="Calibr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0116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●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Calibri"/>
              </a:rPr>
              <a:t>PRONTO PARA
PRODUZIR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O Pátio Cego está custando caro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Calibri"/>
              </a:rPr>
              <a:t>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F87171"/>
                </a:solidFill>
                <a:latin typeface="Calibr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do que acontece no pátio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RETRABALHO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FBBF24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carros voltam para correção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7373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Calibri"/>
              </a:rPr>
              <a:t>DESPERDÍCIO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F87171"/>
                </a:solidFill>
                <a:latin typeface="Calibri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63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horas-homem e materiais perdidos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POR QUE ISSO ACONTECE HOJE?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5E7EB"/>
                </a:solidFill>
                <a:latin typeface="Calibri"/>
              </a:rPr>
              <a:t>Sem rastreio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O gestor descobre problemas só na entrega.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526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526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5E7EB"/>
                </a:solidFill>
                <a:latin typeface="Calibri"/>
              </a:rPr>
              <a:t>40 colaboradores, 15+ serviços simultâneos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937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Impossível acompanhar manualmente.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526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5E7EB"/>
                </a:solidFill>
                <a:latin typeface="Calibri"/>
              </a:rPr>
              <a:t>4 unidades operando isoladas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Cada filial é uma caixa-preta.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526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7090D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526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5E7EB"/>
                </a:solidFill>
                <a:latin typeface="Calibri"/>
              </a:rPr>
              <a:t>Decisão por achismo, não por dado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9377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Sem indicadores objetivos de produtividade.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Transformamos câmeras em um sistema nervoso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Calibri"/>
              </a:rPr>
              <a:t>Cada veículo recebe um QR Code A4 no teto. Cada funcionário é identificado pela cor do uniforme.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Calibri"/>
              </a:rPr>
              <a:t>A IA cruza os dois e deduz, em segundos, qual serviço está acontecendo, onde e por quem.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Calibri"/>
              </a:rPr>
              <a:t>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CAMADA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E7EB"/>
                </a:solidFill>
                <a:latin typeface="Calibri"/>
              </a:rPr>
              <a:t>Olhos
(Borda)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14 câmeras 4K + Visão Computacional rodando no chão de fábrica. Detecta veículos, pessoas e ações em tempo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88036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A78BFA"/>
                </a:solidFill>
                <a:latin typeface="Calibri"/>
              </a:rPr>
              <a:t>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CAMADA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E7EB"/>
                </a:solidFill>
                <a:latin typeface="Calibri"/>
              </a:rPr>
              <a:t>Cérebro
(IA)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Modelos YOLOv8 + Pose Estimation + ReID. Cruzam dados, deduzem o serviço e persistem o histórico operacional.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288036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Calibri"/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CAMADA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E7EB"/>
                </a:solidFill>
                <a:latin typeface="Calibri"/>
              </a:rPr>
              <a:t>Torre
(Dashboard)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Painel ao vivo para gestão. Carros em processo, KPIs, alertas e histórico — em qualquer dispositivo.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Da câmera ao gestor em segundos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3" y="219456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1743" y="233172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583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CÂMERA 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QR no teto +
uniformes coloridos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6263.5" y="3108960.0"/>
            <a:ext cx="256032.0" cy="0.0"/>
          </a:xfrm>
          <a:prstGeom prst="bentConnector3">
            <a:avLst/>
          </a:prstGeom>
          <a:ln w="317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22295" y="219456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9455" y="233172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2295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735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Detecta carros,
pessoas e ações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3975.5" y="3108960.0"/>
            <a:ext cx="256032.0" cy="0.0"/>
          </a:xfrm>
          <a:prstGeom prst="bentConnector3">
            <a:avLst/>
          </a:prstGeom>
          <a:ln w="3175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0007" y="219456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7167" y="233172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FILA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Eventos em
tempo real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1687.5" y="3108960.0"/>
            <a:ext cx="256032.0" cy="0.0"/>
          </a:xfrm>
          <a:prstGeom prst="bentConnector3">
            <a:avLst/>
          </a:prstGeom>
          <a:ln w="317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57719" y="219456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4879" y="233172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719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9159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Persiste e
distribui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69399.5" y="3108960.0"/>
            <a:ext cx="256032.0" cy="0.0"/>
          </a:xfrm>
          <a:prstGeom prst="bentConnector3">
            <a:avLst/>
          </a:prstGeom>
          <a:ln w="31750">
            <a:solidFill>
              <a:srgbClr val="34D3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25431" y="219456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62591" y="233172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5431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871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Gestor enxerga
tudo, ao vivo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EXEMPLO DE EVENTO GERADO PELA 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"João Silva iniciou Polimento no veículo ABC1D23 — CAM-07 — 14:32:18"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LATÊNCIA TÍPICA DE PONTA A PONTA:  &lt; 2 SEGUNDOS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Tecnologia provada, instalação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OLHOS
BORDA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14 Câmeras 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RTSP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642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QR Code 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no teto do carro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6642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captura de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642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YOLOv8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detecção de pessoas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6517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517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CÉREBRO
IA +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6517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7614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API assíncrona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6517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27614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fila + pub/sub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6517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7614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histórico operacional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26517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27614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Worker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persistência ao vivo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49039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749039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TORRE
GESTOR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3749039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3858767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Next.js + React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20623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UI tempo real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749039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858767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WebSocket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420623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feed ao vivo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3749039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3858767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KPIs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20623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carros, retrabalho...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3749039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3858767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E7EB"/>
                </a:solidFill>
                <a:latin typeface="Calibri"/>
              </a:rPr>
              <a:t>Multi-dispositivo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420623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desktop / mobile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0292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INFRA  ·  DOCKER COMPOSE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0292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Servidor local na oficina · Sem dependência de nuvem · Dados ficam com você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Stack moderna, código aberto na base, escalável de 1 a N unidades.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RESULTADO ESPERADO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Antes  →  Depois do Super Skill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Calibri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54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Calibri"/>
              </a:rPr>
              <a:t>COM SUPER SKILL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Calibri"/>
              </a:rPr>
              <a:t>GANHO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Visibilidade do pátio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0116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+75 p.p.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Taxa de retrabalho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060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060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-80%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Desperdício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004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2004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200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-75%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Tempo médio de resposta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79476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8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79476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45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9476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-90%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8912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8912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Carros simultâneos rastreados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3891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891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15+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389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+5×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8348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Decisão por dado objetivo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9834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6B7280"/>
                </a:solidFill>
                <a:latin typeface="Calibri"/>
              </a:rPr>
              <a:t>Não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9834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2D3EE"/>
                </a:solidFill>
                <a:latin typeface="Calibri"/>
              </a:rPr>
              <a:t>Sim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9834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34D399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Cada ponto percentual recuperado = horas de equipe e materiais que voltam ao caixa.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EXPERIÊNCIA DO GESTOR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Tudo em uma tela. Ao vivo.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CARROS EM PROCESSAMENTO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2D3EE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janela 1h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087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184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VISIBILIDADE DO PÁTIO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4D399"/>
                </a:solidFill>
                <a:latin typeface="Calibri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meta atingida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184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Calibri"/>
              </a:rPr>
              <a:t>TAXA DE RETRABALHO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65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BBF24"/>
                </a:solidFill>
                <a:latin typeface="Calibri"/>
              </a:rPr>
              <a:t>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tendência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63240"/>
            <a:ext cx="7360920" cy="3108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FEED AO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4D399"/>
                </a:solidFill>
                <a:latin typeface="Calibri"/>
              </a:rPr>
              <a:t>● IA 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14:32:18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João Silva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611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Polimento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611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ABC1D23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6118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Calibri"/>
              </a:rPr>
              <a:t>CAM-07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69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14:31:50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069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Maria Costa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069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069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Mecânica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069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XYZ9K88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690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Calibri"/>
              </a:rPr>
              <a:t>CAM-03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262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14:31:22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Pedro Alves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526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526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Funilaria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526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HCU2024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5262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Calibri"/>
              </a:rPr>
              <a:t>CAM-11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983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14:30:55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Ana Souza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4983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983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Calibri"/>
              </a:rPr>
              <a:t>Retrabalho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983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BRA1S2C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9834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Calibri"/>
              </a:rPr>
              <a:t>CAM-02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440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14:30:18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Lucas Pereira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440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5440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Inspeção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440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RJX5T6Y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4406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Calibri"/>
              </a:rPr>
              <a:t>CAM-09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306324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ALERTAS INTELIGENTES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611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Calibri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CAM-02 detectou retrabalho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069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Tempo de polimento 18% acima da média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526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Box 4 ocioso há 12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983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983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Meta de visibilidade alcançada (95%)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5440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440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3 carros aguardando vistoria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PLANO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4 fases · cada uma com resultado tangível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05740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5E7EB"/>
                </a:solidFill>
                <a:latin typeface="Calibri"/>
              </a:rPr>
              <a:t>INFRA +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31089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Calibri"/>
              </a:rPr>
              <a:t>Sem.
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Docker, banco e API
rodando no servidor local.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6907.5" y="3429000.0"/>
            <a:ext cx="228600.0" cy="0.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75507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205740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5507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5E7EB"/>
                </a:solidFill>
                <a:latin typeface="Calibri"/>
              </a:rPr>
              <a:t>MOTOR DE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5507" y="31089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Calibri"/>
              </a:rPr>
              <a:t>Sem.
3-5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Detectores de QR Code,
pessoas e ações ativos.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1547.5" y="3429000.0"/>
            <a:ext cx="228600.0" cy="0.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0147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747" y="205740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5E7EB"/>
                </a:solidFill>
                <a:latin typeface="Calibri"/>
              </a:rPr>
              <a:t>TEMPO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1089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BBF24"/>
                </a:solidFill>
                <a:latin typeface="Calibri"/>
              </a:rPr>
              <a:t>Sem.
6-7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Eventos persistidos e
broadcast via WebSocket.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6187.5" y="3429000.0"/>
            <a:ext cx="228600.0" cy="0.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4787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3387" y="205740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7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5E7EB"/>
                </a:solidFill>
                <a:latin typeface="Calibri"/>
              </a:rPr>
              <a:t>TORRE/DASHBOARD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787" y="31089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34D399"/>
                </a:solidFill>
                <a:latin typeface="Calibri"/>
              </a:rPr>
              <a:t>Sem.
8-9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7667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Painel ao vivo entregue
ao gestor da oficina.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Calibri"/>
              </a:rPr>
              <a:t>ENTREGA INCREMENTAL  ·  VOCÊ VÊ VALOR DESDE A FASE 2  ·  PILOTO EM UMA UNIDADE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POR QUE ESSA ENTREGA É POSSÍVEL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Calibri"/>
              </a:rPr>
              <a:t>Vibe Coding com IA + arquitetura de produção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VELOCIDADE 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Desenvolvimento assistido por IA (Claude Code).
O que levaria 6 meses entrega em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Calibri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SEM DEPENDÊNCIA DE NUVEM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Tudo roda no servidor da oficina.
Seus dados e câmeras nunca saem.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Calibri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MODULAR E EVOLUTIVO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Comece com 1 câmera e cresça.
Reusa em todas as 4 unidades.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Calibri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FOCO EM KPI DE NEGÓCIO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Cada feature mira retrabalho, desperdício
ou visibilidade — não vaidade técnica.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GÊMEO DIGITAL DE OFICINAS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PRÓXIMO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5E7EB"/>
                </a:solidFill>
                <a:latin typeface="Calibri"/>
              </a:rPr>
              <a:t>Vamos transformar o pátio
no seu maior diferencial competitivo.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32918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35204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Calibri"/>
              </a:rPr>
              <a:t>DESCOBERTA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46634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Workshop de 1 dia
na unidade-piloto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767" y="32918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35204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Calibri"/>
              </a:rPr>
              <a:t>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46634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Entrega da Fase 1+2
em 5 semanas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32918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567" y="35204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7567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Calibri"/>
              </a:rPr>
              <a:t>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567" y="46634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Replicação para as
4 unidades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90D"/>
                </a:solidFill>
                <a:latin typeface="Calibri"/>
              </a:rPr>
              <a:t>VAMOS AGENDAR A DESCOBERTA?  →  CONTRATAR &amp; COMEÇAR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Super Skill IA  ·  Proposta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